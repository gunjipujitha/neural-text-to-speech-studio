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463233"/>
            <a:ext cx="16303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Text-to-Speech and Voice Generation using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754586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Using Python and speech synthesis to convert written text into natural speech. A mini project focused on voice assistant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31284"/>
            <a:ext cx="8409089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What is Text-to-Speech?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936672"/>
            <a:ext cx="8019459" cy="2796330"/>
            <a:chOff x="0" y="0"/>
            <a:chExt cx="10692613" cy="37284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938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57016"/>
                  </a:lnTo>
                  <a:cubicBezTo>
                    <a:pt x="10679938" y="3644646"/>
                    <a:pt x="10608690" y="3715766"/>
                    <a:pt x="10520807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638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63366"/>
                  </a:lnTo>
                  <a:lnTo>
                    <a:pt x="10686288" y="3563366"/>
                  </a:lnTo>
                  <a:lnTo>
                    <a:pt x="10692638" y="3563366"/>
                  </a:lnTo>
                  <a:cubicBezTo>
                    <a:pt x="10692638" y="3654552"/>
                    <a:pt x="10618597" y="3728466"/>
                    <a:pt x="10527157" y="3728466"/>
                  </a:cubicBezTo>
                  <a:lnTo>
                    <a:pt x="10527157" y="3722116"/>
                  </a:lnTo>
                  <a:lnTo>
                    <a:pt x="10527157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157" y="3715766"/>
                  </a:lnTo>
                  <a:cubicBezTo>
                    <a:pt x="10611485" y="3715766"/>
                    <a:pt x="10679938" y="3647567"/>
                    <a:pt x="10679938" y="3563366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234480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468291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659" t="0" r="-365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33045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Core Function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4876800"/>
            <a:ext cx="742384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Converts written text into spoken audio output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0922" y="2936672"/>
            <a:ext cx="8019602" cy="2796330"/>
            <a:chOff x="0" y="0"/>
            <a:chExt cx="10692803" cy="37284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0680065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8006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934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3557016"/>
                  </a:lnTo>
                  <a:cubicBezTo>
                    <a:pt x="10680065" y="3644646"/>
                    <a:pt x="10608818" y="3715766"/>
                    <a:pt x="10520934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2765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765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3563366"/>
                  </a:lnTo>
                  <a:lnTo>
                    <a:pt x="10686415" y="3563366"/>
                  </a:lnTo>
                  <a:lnTo>
                    <a:pt x="10692765" y="3563366"/>
                  </a:lnTo>
                  <a:cubicBezTo>
                    <a:pt x="10692765" y="3654552"/>
                    <a:pt x="10618724" y="3728466"/>
                    <a:pt x="10527284" y="3728466"/>
                  </a:cubicBezTo>
                  <a:lnTo>
                    <a:pt x="10527284" y="3722116"/>
                  </a:lnTo>
                  <a:lnTo>
                    <a:pt x="10527284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284" y="3715766"/>
                  </a:lnTo>
                  <a:cubicBezTo>
                    <a:pt x="10611612" y="3715766"/>
                    <a:pt x="10680065" y="3647567"/>
                    <a:pt x="10680065" y="3563366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78731" y="3234480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9812684" y="3468291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439" r="0" b="-243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78731" y="433045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Technology Blend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8731" y="4876800"/>
            <a:ext cx="742399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Combines NLP and speech synthesis techniques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7476" y="6006998"/>
            <a:ext cx="8019459" cy="2796330"/>
            <a:chOff x="0" y="0"/>
            <a:chExt cx="10692613" cy="37284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0679938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57016"/>
                  </a:lnTo>
                  <a:cubicBezTo>
                    <a:pt x="10679938" y="3644646"/>
                    <a:pt x="10608690" y="3715766"/>
                    <a:pt x="10520807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2638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63366"/>
                  </a:lnTo>
                  <a:lnTo>
                    <a:pt x="10686288" y="3563366"/>
                  </a:lnTo>
                  <a:lnTo>
                    <a:pt x="10692638" y="3563366"/>
                  </a:lnTo>
                  <a:cubicBezTo>
                    <a:pt x="10692638" y="3654552"/>
                    <a:pt x="10618597" y="3728466"/>
                    <a:pt x="10527157" y="3728466"/>
                  </a:cubicBezTo>
                  <a:lnTo>
                    <a:pt x="10527157" y="3722116"/>
                  </a:lnTo>
                  <a:lnTo>
                    <a:pt x="10527157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157" y="3715766"/>
                  </a:lnTo>
                  <a:cubicBezTo>
                    <a:pt x="10611485" y="3715766"/>
                    <a:pt x="10679938" y="3647567"/>
                    <a:pt x="10679938" y="3563366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5284" y="6304807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519238" y="653861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879" r="0" b="-487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85284" y="740077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Applications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5284" y="7947127"/>
            <a:ext cx="742384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Used in voice assistants and accessibility systems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0922" y="6006998"/>
            <a:ext cx="8019602" cy="2796330"/>
            <a:chOff x="0" y="0"/>
            <a:chExt cx="10692803" cy="37284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680065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8006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934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3557016"/>
                  </a:lnTo>
                  <a:cubicBezTo>
                    <a:pt x="10680065" y="3644646"/>
                    <a:pt x="10608818" y="3715766"/>
                    <a:pt x="10520934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2765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765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3563366"/>
                  </a:lnTo>
                  <a:lnTo>
                    <a:pt x="10686415" y="3563366"/>
                  </a:lnTo>
                  <a:lnTo>
                    <a:pt x="10692765" y="3563366"/>
                  </a:lnTo>
                  <a:cubicBezTo>
                    <a:pt x="10692765" y="3654552"/>
                    <a:pt x="10618724" y="3728466"/>
                    <a:pt x="10527284" y="3728466"/>
                  </a:cubicBezTo>
                  <a:lnTo>
                    <a:pt x="10527284" y="3722116"/>
                  </a:lnTo>
                  <a:lnTo>
                    <a:pt x="10527284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284" y="3715766"/>
                  </a:lnTo>
                  <a:cubicBezTo>
                    <a:pt x="10611612" y="3715766"/>
                    <a:pt x="10680065" y="3647567"/>
                    <a:pt x="10680065" y="3563366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78731" y="6304807"/>
            <a:ext cx="850554" cy="850554"/>
            <a:chOff x="0" y="0"/>
            <a:chExt cx="1134072" cy="1134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812684" y="653861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7074" t="0" r="-17071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578731" y="740077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User Experience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78731" y="7947127"/>
            <a:ext cx="742399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Enables natural human-computer interaction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43918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15766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Current Limitations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817421"/>
            <a:ext cx="7805890" cy="276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Heavy reliance on text-based interaction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Lack of natural, human-like communication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Accessibility barriers for visually impaired users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Robotic and unnatural speech output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Need for efficient speech generation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99397" y="4231186"/>
            <a:ext cx="7805890" cy="2112016"/>
            <a:chOff x="0" y="0"/>
            <a:chExt cx="10407853" cy="28160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07777" cy="2815971"/>
            </a:xfrm>
            <a:custGeom>
              <a:avLst/>
              <a:gdLst/>
              <a:ahLst/>
              <a:cxnLst/>
              <a:rect r="r" b="b" t="t" l="l"/>
              <a:pathLst>
                <a:path h="2815971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2657221"/>
                  </a:lnTo>
                  <a:cubicBezTo>
                    <a:pt x="10407777" y="2744851"/>
                    <a:pt x="10336657" y="2815971"/>
                    <a:pt x="10249027" y="2815971"/>
                  </a:cubicBezTo>
                  <a:lnTo>
                    <a:pt x="158750" y="2815971"/>
                  </a:lnTo>
                  <a:cubicBezTo>
                    <a:pt x="71120" y="2815971"/>
                    <a:pt x="0" y="2744851"/>
                    <a:pt x="0" y="2657221"/>
                  </a:cubicBezTo>
                  <a:close/>
                </a:path>
              </a:pathLst>
            </a:custGeom>
            <a:solidFill>
              <a:srgbClr val="D4D6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82918" y="4670822"/>
            <a:ext cx="354359" cy="283521"/>
            <a:chOff x="0" y="0"/>
            <a:chExt cx="472478" cy="37802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20798" y="4480770"/>
            <a:ext cx="660097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Challenge: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Existing basic TTS systems produce monotonic, robotic speech that lacks expressiveness and natural flow.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54571"/>
            <a:ext cx="9517409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Existing System Limitations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545681"/>
            <a:ext cx="8048034" cy="2201618"/>
            <a:chOff x="0" y="0"/>
            <a:chExt cx="10730713" cy="29354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2923" y="0"/>
                  </a:lnTo>
                  <a:cubicBezTo>
                    <a:pt x="10569321" y="0"/>
                    <a:pt x="10679938" y="109220"/>
                    <a:pt x="10679938" y="243840"/>
                  </a:cubicBezTo>
                  <a:lnTo>
                    <a:pt x="10679938" y="2640838"/>
                  </a:lnTo>
                  <a:cubicBezTo>
                    <a:pt x="10679938" y="2775458"/>
                    <a:pt x="10569321" y="2884678"/>
                    <a:pt x="10432923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323" y="0"/>
                  </a:lnTo>
                  <a:lnTo>
                    <a:pt x="10458323" y="25400"/>
                  </a:lnTo>
                  <a:lnTo>
                    <a:pt x="10458323" y="0"/>
                  </a:lnTo>
                  <a:cubicBezTo>
                    <a:pt x="10608437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666238"/>
                  </a:lnTo>
                  <a:lnTo>
                    <a:pt x="10705338" y="2666238"/>
                  </a:lnTo>
                  <a:lnTo>
                    <a:pt x="10730738" y="2666238"/>
                  </a:lnTo>
                  <a:cubicBezTo>
                    <a:pt x="10730738" y="2815209"/>
                    <a:pt x="10608437" y="2935478"/>
                    <a:pt x="10458323" y="2935478"/>
                  </a:cubicBezTo>
                  <a:lnTo>
                    <a:pt x="10458323" y="2910078"/>
                  </a:lnTo>
                  <a:lnTo>
                    <a:pt x="10458323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323" y="2884678"/>
                  </a:lnTo>
                  <a:cubicBezTo>
                    <a:pt x="10581005" y="2884678"/>
                    <a:pt x="10679938" y="2786634"/>
                    <a:pt x="10679938" y="2666238"/>
                  </a:cubicBezTo>
                  <a:lnTo>
                    <a:pt x="10679938" y="269240"/>
                  </a:lnTo>
                  <a:cubicBezTo>
                    <a:pt x="10679938" y="148844"/>
                    <a:pt x="10581005" y="50800"/>
                    <a:pt x="10458323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564731"/>
            <a:ext cx="152400" cy="2163518"/>
            <a:chOff x="0" y="0"/>
            <a:chExt cx="203200" cy="28846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3848252"/>
            <a:ext cx="355594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Rule-Based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394597"/>
            <a:ext cx="72523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Limited voice quality and expressiveness due to hardcoded rules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4" y="3545681"/>
            <a:ext cx="8048177" cy="2201618"/>
            <a:chOff x="0" y="0"/>
            <a:chExt cx="10730903" cy="29354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19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192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3177" y="0"/>
                  </a:lnTo>
                  <a:cubicBezTo>
                    <a:pt x="10569575" y="0"/>
                    <a:pt x="10680192" y="109220"/>
                    <a:pt x="10680192" y="243840"/>
                  </a:cubicBezTo>
                  <a:lnTo>
                    <a:pt x="10680192" y="2640838"/>
                  </a:lnTo>
                  <a:cubicBezTo>
                    <a:pt x="10680192" y="2775458"/>
                    <a:pt x="10569575" y="2884678"/>
                    <a:pt x="10433177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99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992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577" y="0"/>
                  </a:lnTo>
                  <a:lnTo>
                    <a:pt x="10458577" y="25400"/>
                  </a:lnTo>
                  <a:lnTo>
                    <a:pt x="10458577" y="0"/>
                  </a:lnTo>
                  <a:cubicBezTo>
                    <a:pt x="10608691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2666238"/>
                  </a:lnTo>
                  <a:lnTo>
                    <a:pt x="10705592" y="2666238"/>
                  </a:lnTo>
                  <a:lnTo>
                    <a:pt x="10730992" y="2666238"/>
                  </a:lnTo>
                  <a:cubicBezTo>
                    <a:pt x="10730992" y="2815209"/>
                    <a:pt x="10608691" y="2935478"/>
                    <a:pt x="10458577" y="2935478"/>
                  </a:cubicBezTo>
                  <a:lnTo>
                    <a:pt x="10458577" y="2910078"/>
                  </a:lnTo>
                  <a:lnTo>
                    <a:pt x="10458577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577" y="2884678"/>
                  </a:lnTo>
                  <a:cubicBezTo>
                    <a:pt x="10581259" y="2884678"/>
                    <a:pt x="10680192" y="2786634"/>
                    <a:pt x="10680192" y="2666238"/>
                  </a:cubicBezTo>
                  <a:lnTo>
                    <a:pt x="10680192" y="269240"/>
                  </a:lnTo>
                  <a:cubicBezTo>
                    <a:pt x="10680192" y="148844"/>
                    <a:pt x="10581259" y="50800"/>
                    <a:pt x="10458577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47584" y="3564731"/>
            <a:ext cx="152400" cy="2163518"/>
            <a:chOff x="0" y="0"/>
            <a:chExt cx="203200" cy="28846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1606" y="384825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Robotic Output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1606" y="4394597"/>
            <a:ext cx="72525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Monotonic speech lacking natural intonation and emotion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188" y="5992711"/>
            <a:ext cx="8048034" cy="2201618"/>
            <a:chOff x="0" y="0"/>
            <a:chExt cx="10730713" cy="29354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2923" y="0"/>
                  </a:lnTo>
                  <a:cubicBezTo>
                    <a:pt x="10569321" y="0"/>
                    <a:pt x="10679938" y="109220"/>
                    <a:pt x="10679938" y="243840"/>
                  </a:cubicBezTo>
                  <a:lnTo>
                    <a:pt x="10679938" y="2640838"/>
                  </a:lnTo>
                  <a:cubicBezTo>
                    <a:pt x="10679938" y="2775458"/>
                    <a:pt x="10569321" y="2884678"/>
                    <a:pt x="10432923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323" y="0"/>
                  </a:lnTo>
                  <a:lnTo>
                    <a:pt x="10458323" y="25400"/>
                  </a:lnTo>
                  <a:lnTo>
                    <a:pt x="10458323" y="0"/>
                  </a:lnTo>
                  <a:cubicBezTo>
                    <a:pt x="10608437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666238"/>
                  </a:lnTo>
                  <a:lnTo>
                    <a:pt x="10705338" y="2666238"/>
                  </a:lnTo>
                  <a:lnTo>
                    <a:pt x="10730738" y="2666238"/>
                  </a:lnTo>
                  <a:cubicBezTo>
                    <a:pt x="10730738" y="2815209"/>
                    <a:pt x="10608437" y="2935478"/>
                    <a:pt x="10458323" y="2935478"/>
                  </a:cubicBezTo>
                  <a:lnTo>
                    <a:pt x="10458323" y="2910078"/>
                  </a:lnTo>
                  <a:lnTo>
                    <a:pt x="10458323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323" y="2884678"/>
                  </a:lnTo>
                  <a:cubicBezTo>
                    <a:pt x="10581005" y="2884678"/>
                    <a:pt x="10679938" y="2786634"/>
                    <a:pt x="10679938" y="2666238"/>
                  </a:cubicBezTo>
                  <a:lnTo>
                    <a:pt x="10679938" y="269240"/>
                  </a:lnTo>
                  <a:cubicBezTo>
                    <a:pt x="10679938" y="148844"/>
                    <a:pt x="10581005" y="50800"/>
                    <a:pt x="10458323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4138" y="6011761"/>
            <a:ext cx="152400" cy="2163518"/>
            <a:chOff x="0" y="0"/>
            <a:chExt cx="203200" cy="28846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8159" y="6295282"/>
            <a:ext cx="358050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Internet Dependency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159" y="6841627"/>
            <a:ext cx="72523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Many implementations require constant internet connectivity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6634" y="5992711"/>
            <a:ext cx="8048177" cy="2201618"/>
            <a:chOff x="0" y="0"/>
            <a:chExt cx="10730903" cy="29354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8019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192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3177" y="0"/>
                  </a:lnTo>
                  <a:cubicBezTo>
                    <a:pt x="10569575" y="0"/>
                    <a:pt x="10680192" y="109220"/>
                    <a:pt x="10680192" y="243840"/>
                  </a:cubicBezTo>
                  <a:lnTo>
                    <a:pt x="10680192" y="2640838"/>
                  </a:lnTo>
                  <a:cubicBezTo>
                    <a:pt x="10680192" y="2775458"/>
                    <a:pt x="10569575" y="2884678"/>
                    <a:pt x="10433177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99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992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577" y="0"/>
                  </a:lnTo>
                  <a:lnTo>
                    <a:pt x="10458577" y="25400"/>
                  </a:lnTo>
                  <a:lnTo>
                    <a:pt x="10458577" y="0"/>
                  </a:lnTo>
                  <a:cubicBezTo>
                    <a:pt x="10608691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2666238"/>
                  </a:lnTo>
                  <a:lnTo>
                    <a:pt x="10705592" y="2666238"/>
                  </a:lnTo>
                  <a:lnTo>
                    <a:pt x="10730992" y="2666238"/>
                  </a:lnTo>
                  <a:cubicBezTo>
                    <a:pt x="10730992" y="2815209"/>
                    <a:pt x="10608691" y="2935478"/>
                    <a:pt x="10458577" y="2935478"/>
                  </a:cubicBezTo>
                  <a:lnTo>
                    <a:pt x="10458577" y="2910078"/>
                  </a:lnTo>
                  <a:lnTo>
                    <a:pt x="10458577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577" y="2884678"/>
                  </a:lnTo>
                  <a:cubicBezTo>
                    <a:pt x="10581259" y="2884678"/>
                    <a:pt x="10680192" y="2786634"/>
                    <a:pt x="10680192" y="2666238"/>
                  </a:cubicBezTo>
                  <a:lnTo>
                    <a:pt x="10680192" y="269240"/>
                  </a:lnTo>
                  <a:cubicBezTo>
                    <a:pt x="10680192" y="148844"/>
                    <a:pt x="10581259" y="50800"/>
                    <a:pt x="10458577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47584" y="6011761"/>
            <a:ext cx="152400" cy="2163518"/>
            <a:chOff x="0" y="0"/>
            <a:chExt cx="203200" cy="28846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21606" y="629528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Performance Issues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1606" y="6841627"/>
            <a:ext cx="725254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Not optimized for real-time or flexible usage scenarios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9905" y="826589"/>
            <a:ext cx="10293553" cy="87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Proposed Python-Based System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5143" y="2187473"/>
            <a:ext cx="600818" cy="600818"/>
            <a:chOff x="0" y="0"/>
            <a:chExt cx="801091" cy="8010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18356" y="2279523"/>
            <a:ext cx="394249" cy="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4829" y="2263531"/>
            <a:ext cx="3285534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Python 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4829" y="2763288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Built using Python programming language for flexibility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5143" y="3727104"/>
            <a:ext cx="600818" cy="600818"/>
            <a:chOff x="0" y="0"/>
            <a:chExt cx="801091" cy="8010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8356" y="3819154"/>
            <a:ext cx="394249" cy="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4829" y="3803152"/>
            <a:ext cx="3285534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Natural Speech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4829" y="4302919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Converts input text into natural-sounding speech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5143" y="5266734"/>
            <a:ext cx="600818" cy="600818"/>
            <a:chOff x="0" y="0"/>
            <a:chExt cx="801091" cy="8010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18356" y="5358784"/>
            <a:ext cx="394249" cy="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4829" y="5342782"/>
            <a:ext cx="3285534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Library Options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54829" y="5842549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Uses gTTS and pyttsx3 for online and offline synthesis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5143" y="6806355"/>
            <a:ext cx="600818" cy="600818"/>
            <a:chOff x="0" y="0"/>
            <a:chExt cx="801091" cy="8010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18356" y="6898405"/>
            <a:ext cx="394249" cy="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54829" y="6882403"/>
            <a:ext cx="3285534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Voice Assistant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54829" y="7382170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Can function as a simple, responsive voice assistant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5143" y="8345986"/>
            <a:ext cx="600818" cy="600818"/>
            <a:chOff x="0" y="0"/>
            <a:chExt cx="801091" cy="8010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788416" cy="788416"/>
            </a:xfrm>
            <a:custGeom>
              <a:avLst/>
              <a:gdLst/>
              <a:ahLst/>
              <a:cxnLst/>
              <a:rect r="r" b="b" t="t" l="l"/>
              <a:pathLst>
                <a:path h="788416" w="788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41223" y="0"/>
                  </a:lnTo>
                  <a:cubicBezTo>
                    <a:pt x="722503" y="0"/>
                    <a:pt x="788416" y="65913"/>
                    <a:pt x="788416" y="147193"/>
                  </a:cubicBezTo>
                  <a:lnTo>
                    <a:pt x="788416" y="641223"/>
                  </a:lnTo>
                  <a:cubicBezTo>
                    <a:pt x="788416" y="722503"/>
                    <a:pt x="722503" y="788416"/>
                    <a:pt x="641223" y="788416"/>
                  </a:cubicBezTo>
                  <a:lnTo>
                    <a:pt x="147193" y="788416"/>
                  </a:lnTo>
                  <a:cubicBezTo>
                    <a:pt x="65913" y="788416"/>
                    <a:pt x="0" y="722503"/>
                    <a:pt x="0" y="641223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1116" cy="801116"/>
            </a:xfrm>
            <a:custGeom>
              <a:avLst/>
              <a:gdLst/>
              <a:ahLst/>
              <a:cxnLst/>
              <a:rect r="r" b="b" t="t" l="l"/>
              <a:pathLst>
                <a:path h="801116" w="801116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647573" y="0"/>
                  </a:lnTo>
                  <a:lnTo>
                    <a:pt x="647573" y="6350"/>
                  </a:lnTo>
                  <a:lnTo>
                    <a:pt x="647573" y="0"/>
                  </a:lnTo>
                  <a:cubicBezTo>
                    <a:pt x="732409" y="0"/>
                    <a:pt x="801116" y="68707"/>
                    <a:pt x="801116" y="153543"/>
                  </a:cubicBezTo>
                  <a:lnTo>
                    <a:pt x="794766" y="153543"/>
                  </a:lnTo>
                  <a:lnTo>
                    <a:pt x="801116" y="153543"/>
                  </a:lnTo>
                  <a:lnTo>
                    <a:pt x="801116" y="647573"/>
                  </a:lnTo>
                  <a:lnTo>
                    <a:pt x="794766" y="647573"/>
                  </a:lnTo>
                  <a:lnTo>
                    <a:pt x="801116" y="647573"/>
                  </a:lnTo>
                  <a:cubicBezTo>
                    <a:pt x="801116" y="732409"/>
                    <a:pt x="732409" y="801116"/>
                    <a:pt x="647573" y="801116"/>
                  </a:cubicBezTo>
                  <a:lnTo>
                    <a:pt x="647573" y="794766"/>
                  </a:lnTo>
                  <a:lnTo>
                    <a:pt x="647573" y="801116"/>
                  </a:lnTo>
                  <a:lnTo>
                    <a:pt x="153543" y="801116"/>
                  </a:lnTo>
                  <a:lnTo>
                    <a:pt x="153543" y="794766"/>
                  </a:lnTo>
                  <a:lnTo>
                    <a:pt x="153543" y="801116"/>
                  </a:lnTo>
                  <a:cubicBezTo>
                    <a:pt x="68707" y="801116"/>
                    <a:pt x="0" y="732409"/>
                    <a:pt x="0" y="647573"/>
                  </a:cubicBezTo>
                  <a:lnTo>
                    <a:pt x="0" y="153543"/>
                  </a:lnTo>
                  <a:lnTo>
                    <a:pt x="6350" y="153543"/>
                  </a:lnTo>
                  <a:lnTo>
                    <a:pt x="0" y="153543"/>
                  </a:lnTo>
                  <a:moveTo>
                    <a:pt x="12700" y="153543"/>
                  </a:moveTo>
                  <a:lnTo>
                    <a:pt x="12700" y="647573"/>
                  </a:lnTo>
                  <a:lnTo>
                    <a:pt x="6350" y="647573"/>
                  </a:lnTo>
                  <a:lnTo>
                    <a:pt x="12700" y="647573"/>
                  </a:lnTo>
                  <a:cubicBezTo>
                    <a:pt x="12700" y="725297"/>
                    <a:pt x="75819" y="788416"/>
                    <a:pt x="153543" y="788416"/>
                  </a:cubicBezTo>
                  <a:lnTo>
                    <a:pt x="647573" y="788416"/>
                  </a:lnTo>
                  <a:cubicBezTo>
                    <a:pt x="725297" y="788416"/>
                    <a:pt x="788416" y="725297"/>
                    <a:pt x="788416" y="647573"/>
                  </a:cubicBezTo>
                  <a:lnTo>
                    <a:pt x="788416" y="153543"/>
                  </a:lnTo>
                  <a:cubicBezTo>
                    <a:pt x="788416" y="75819"/>
                    <a:pt x="725297" y="12700"/>
                    <a:pt x="647573" y="12700"/>
                  </a:cubicBezTo>
                  <a:lnTo>
                    <a:pt x="153543" y="12700"/>
                  </a:lnTo>
                  <a:lnTo>
                    <a:pt x="153543" y="6350"/>
                  </a:lnTo>
                  <a:lnTo>
                    <a:pt x="153543" y="12700"/>
                  </a:lnTo>
                  <a:cubicBezTo>
                    <a:pt x="75819" y="12700"/>
                    <a:pt x="12700" y="75819"/>
                    <a:pt x="12700" y="15354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8356" y="8438036"/>
            <a:ext cx="394249" cy="45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30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54829" y="8422034"/>
            <a:ext cx="3285534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User-Friendly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54829" y="8921801"/>
            <a:ext cx="15613266" cy="48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Focus on ease of use and clarity of output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0786" y="600818"/>
            <a:ext cx="9189091" cy="782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 &amp;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30786" y="1773288"/>
            <a:ext cx="16226285" cy="7301808"/>
            <a:chOff x="0" y="0"/>
            <a:chExt cx="21635047" cy="973574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635086" cy="9735693"/>
            </a:xfrm>
            <a:custGeom>
              <a:avLst/>
              <a:gdLst/>
              <a:ahLst/>
              <a:cxnLst/>
              <a:rect r="r" b="b" t="t" l="l"/>
              <a:pathLst>
                <a:path h="9735693" w="21635086">
                  <a:moveTo>
                    <a:pt x="0" y="0"/>
                  </a:moveTo>
                  <a:lnTo>
                    <a:pt x="21635086" y="0"/>
                  </a:lnTo>
                  <a:lnTo>
                    <a:pt x="21635086" y="9735693"/>
                  </a:lnTo>
                  <a:lnTo>
                    <a:pt x="0" y="973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" r="0" b="-1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474987" y="2228850"/>
            <a:ext cx="2839593" cy="47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User 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4987" y="2821048"/>
            <a:ext cx="2839593" cy="33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Provide text or prompt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4588097" y="4065832"/>
            <a:ext cx="628964" cy="628964"/>
          </a:xfrm>
          <a:custGeom>
            <a:avLst/>
            <a:gdLst/>
            <a:ahLst/>
            <a:cxnLst/>
            <a:rect r="r" b="b" t="t" l="l"/>
            <a:pathLst>
              <a:path h="628964" w="628964">
                <a:moveTo>
                  <a:pt x="0" y="0"/>
                </a:moveTo>
                <a:lnTo>
                  <a:pt x="628965" y="0"/>
                </a:lnTo>
                <a:lnTo>
                  <a:pt x="628965" y="628964"/>
                </a:lnTo>
                <a:lnTo>
                  <a:pt x="0" y="6289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0895" t="0" r="-2089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83366" y="7544791"/>
            <a:ext cx="2855195" cy="47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83366" y="8136998"/>
            <a:ext cx="2855195" cy="65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Clean and normalize text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396486" y="6359347"/>
            <a:ext cx="628964" cy="628964"/>
          </a:xfrm>
          <a:custGeom>
            <a:avLst/>
            <a:gdLst/>
            <a:ahLst/>
            <a:cxnLst/>
            <a:rect r="r" b="b" t="t" l="l"/>
            <a:pathLst>
              <a:path h="628964" w="628964">
                <a:moveTo>
                  <a:pt x="0" y="0"/>
                </a:moveTo>
                <a:lnTo>
                  <a:pt x="628965" y="0"/>
                </a:lnTo>
                <a:lnTo>
                  <a:pt x="628965" y="628965"/>
                </a:lnTo>
                <a:lnTo>
                  <a:pt x="0" y="6289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2835" r="0" b="-3283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60551" y="2013833"/>
            <a:ext cx="2839593" cy="47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TTS 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60551" y="2606030"/>
            <a:ext cx="2839593" cy="65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Convert text to phonemes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220477" y="4003415"/>
            <a:ext cx="628964" cy="628964"/>
          </a:xfrm>
          <a:custGeom>
            <a:avLst/>
            <a:gdLst/>
            <a:ahLst/>
            <a:cxnLst/>
            <a:rect r="r" b="b" t="t" l="l"/>
            <a:pathLst>
              <a:path h="628964" w="628964">
                <a:moveTo>
                  <a:pt x="0" y="0"/>
                </a:moveTo>
                <a:lnTo>
                  <a:pt x="628965" y="0"/>
                </a:lnTo>
                <a:lnTo>
                  <a:pt x="628965" y="628964"/>
                </a:lnTo>
                <a:lnTo>
                  <a:pt x="0" y="6289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1642" t="0" r="-2164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868941" y="7544791"/>
            <a:ext cx="2839593" cy="47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Speech Output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68941" y="8136998"/>
            <a:ext cx="2839593" cy="65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Generate and export audio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2982051" y="6359347"/>
            <a:ext cx="628964" cy="628964"/>
          </a:xfrm>
          <a:custGeom>
            <a:avLst/>
            <a:gdLst/>
            <a:ahLst/>
            <a:cxnLst/>
            <a:rect r="r" b="b" t="t" l="l"/>
            <a:pathLst>
              <a:path h="628964" w="628964">
                <a:moveTo>
                  <a:pt x="0" y="0"/>
                </a:moveTo>
                <a:lnTo>
                  <a:pt x="628964" y="0"/>
                </a:lnTo>
                <a:lnTo>
                  <a:pt x="628964" y="628965"/>
                </a:lnTo>
                <a:lnTo>
                  <a:pt x="0" y="6289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2686" t="0" r="-12686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30786" y="9227791"/>
            <a:ext cx="16226285" cy="41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The system follows a sequential pipeline from text input to audio output, ensuring efficient processing and natural speech generation.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02348"/>
            <a:ext cx="1022969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Technologies &amp; Libraries Used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612509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6666" r="0" b="-666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314" y="357440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Python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5314" y="4120753"/>
            <a:ext cx="413519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Core programming language providing flexibility and extensive library support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4866" y="3612509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666" r="0" b="-266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07941" y="357440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gTTS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7941" y="4120753"/>
            <a:ext cx="413519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Google Text-to-Speech for online synthesis with high-quality voices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97493" y="3612509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666" r="0" b="-1466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60578" y="357440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pyttsx3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0578" y="4120753"/>
            <a:ext cx="413519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Offline speech generation library for platform-independent operation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238" y="6153445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999" t="0" r="-400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55314" y="61153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TensorFlow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55314" y="6661699"/>
            <a:ext cx="413519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Machine learning framework for advanced deep learning extensions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544866" y="6153445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0666" t="0" r="-30666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607941" y="61153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NLP Concepts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07941" y="6661699"/>
            <a:ext cx="413519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Basic natural language processing for text preprocessing and formatting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820295"/>
            <a:ext cx="7551534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System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43404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Hardware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093789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Computer or laptop with speakers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Minimum dual-core processor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At least 4 GB 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443404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Software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5093789"/>
            <a:ext cx="7805890" cy="221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Python 3.x installed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gTTS library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pyttsx3 library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TensorFlow (optional for ML extensions)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11721"/>
            <a:ext cx="8766867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Applications &amp; Use Cases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617119"/>
            <a:ext cx="5254971" cy="2569521"/>
            <a:chOff x="0" y="0"/>
            <a:chExt cx="7006628" cy="34260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3413252"/>
            </a:xfrm>
            <a:custGeom>
              <a:avLst/>
              <a:gdLst/>
              <a:ahLst/>
              <a:cxnLst/>
              <a:rect r="r" b="b" t="t" l="l"/>
              <a:pathLst>
                <a:path h="3413252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254502"/>
                  </a:lnTo>
                  <a:cubicBezTo>
                    <a:pt x="6993890" y="3342259"/>
                    <a:pt x="6922643" y="3413252"/>
                    <a:pt x="6834759" y="3413252"/>
                  </a:cubicBezTo>
                  <a:lnTo>
                    <a:pt x="159131" y="3413252"/>
                  </a:lnTo>
                  <a:cubicBezTo>
                    <a:pt x="71247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717" cy="3425952"/>
            </a:xfrm>
            <a:custGeom>
              <a:avLst/>
              <a:gdLst/>
              <a:ahLst/>
              <a:cxnLst/>
              <a:rect r="r" b="b" t="t" l="l"/>
              <a:pathLst>
                <a:path h="3425952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260852"/>
                  </a:lnTo>
                  <a:lnTo>
                    <a:pt x="7000367" y="3260852"/>
                  </a:lnTo>
                  <a:lnTo>
                    <a:pt x="7006717" y="3260852"/>
                  </a:lnTo>
                  <a:cubicBezTo>
                    <a:pt x="7006717" y="3352038"/>
                    <a:pt x="6932676" y="3425952"/>
                    <a:pt x="6841236" y="3425952"/>
                  </a:cubicBezTo>
                  <a:lnTo>
                    <a:pt x="6841236" y="3419602"/>
                  </a:lnTo>
                  <a:lnTo>
                    <a:pt x="6841236" y="3425952"/>
                  </a:lnTo>
                  <a:lnTo>
                    <a:pt x="165481" y="3425952"/>
                  </a:lnTo>
                  <a:lnTo>
                    <a:pt x="165481" y="3419602"/>
                  </a:lnTo>
                  <a:lnTo>
                    <a:pt x="165481" y="3425952"/>
                  </a:lnTo>
                  <a:cubicBezTo>
                    <a:pt x="74168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481" y="3413252"/>
                  </a:cubicBezTo>
                  <a:lnTo>
                    <a:pt x="6841236" y="3413252"/>
                  </a:lnTo>
                  <a:cubicBezTo>
                    <a:pt x="6925564" y="3413252"/>
                    <a:pt x="6994017" y="3345053"/>
                    <a:pt x="6994017" y="3260852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87682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Voice Assistants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4423172"/>
            <a:ext cx="465936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Chatbots and intelligent assistants for customer service and automation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6443" y="3617119"/>
            <a:ext cx="5254971" cy="2569521"/>
            <a:chOff x="0" y="0"/>
            <a:chExt cx="7006628" cy="3426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993890" cy="3413252"/>
            </a:xfrm>
            <a:custGeom>
              <a:avLst/>
              <a:gdLst/>
              <a:ahLst/>
              <a:cxnLst/>
              <a:rect r="r" b="b" t="t" l="l"/>
              <a:pathLst>
                <a:path h="3413252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254502"/>
                  </a:lnTo>
                  <a:cubicBezTo>
                    <a:pt x="6993890" y="3342259"/>
                    <a:pt x="6922643" y="3413252"/>
                    <a:pt x="6834759" y="3413252"/>
                  </a:cubicBezTo>
                  <a:lnTo>
                    <a:pt x="159131" y="3413252"/>
                  </a:lnTo>
                  <a:cubicBezTo>
                    <a:pt x="71247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6717" cy="3425952"/>
            </a:xfrm>
            <a:custGeom>
              <a:avLst/>
              <a:gdLst/>
              <a:ahLst/>
              <a:cxnLst/>
              <a:rect r="r" b="b" t="t" l="l"/>
              <a:pathLst>
                <a:path h="3425952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260852"/>
                  </a:lnTo>
                  <a:lnTo>
                    <a:pt x="7000367" y="3260852"/>
                  </a:lnTo>
                  <a:lnTo>
                    <a:pt x="7006717" y="3260852"/>
                  </a:lnTo>
                  <a:cubicBezTo>
                    <a:pt x="7006717" y="3352038"/>
                    <a:pt x="6932676" y="3425952"/>
                    <a:pt x="6841236" y="3425952"/>
                  </a:cubicBezTo>
                  <a:lnTo>
                    <a:pt x="6841236" y="3419602"/>
                  </a:lnTo>
                  <a:lnTo>
                    <a:pt x="6841236" y="3425952"/>
                  </a:lnTo>
                  <a:lnTo>
                    <a:pt x="165481" y="3425952"/>
                  </a:lnTo>
                  <a:lnTo>
                    <a:pt x="165481" y="3419602"/>
                  </a:lnTo>
                  <a:lnTo>
                    <a:pt x="165481" y="3425952"/>
                  </a:lnTo>
                  <a:cubicBezTo>
                    <a:pt x="74168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481" y="3413252"/>
                  </a:cubicBezTo>
                  <a:lnTo>
                    <a:pt x="6841236" y="3413252"/>
                  </a:lnTo>
                  <a:cubicBezTo>
                    <a:pt x="6925564" y="3413252"/>
                    <a:pt x="6994017" y="3345053"/>
                    <a:pt x="6994017" y="3260852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14242" y="387682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Accessibility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4242" y="4423172"/>
            <a:ext cx="465936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Assistive technology for visually impaired users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45401" y="3617119"/>
            <a:ext cx="5254971" cy="2569521"/>
            <a:chOff x="0" y="0"/>
            <a:chExt cx="7006628" cy="34260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993890" cy="3413252"/>
            </a:xfrm>
            <a:custGeom>
              <a:avLst/>
              <a:gdLst/>
              <a:ahLst/>
              <a:cxnLst/>
              <a:rect r="r" b="b" t="t" l="l"/>
              <a:pathLst>
                <a:path h="3413252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254502"/>
                  </a:lnTo>
                  <a:cubicBezTo>
                    <a:pt x="6993890" y="3342259"/>
                    <a:pt x="6922643" y="3413252"/>
                    <a:pt x="6834759" y="3413252"/>
                  </a:cubicBezTo>
                  <a:lnTo>
                    <a:pt x="159131" y="3413252"/>
                  </a:lnTo>
                  <a:cubicBezTo>
                    <a:pt x="71247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6717" cy="3425952"/>
            </a:xfrm>
            <a:custGeom>
              <a:avLst/>
              <a:gdLst/>
              <a:ahLst/>
              <a:cxnLst/>
              <a:rect r="r" b="b" t="t" l="l"/>
              <a:pathLst>
                <a:path h="3425952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260852"/>
                  </a:lnTo>
                  <a:lnTo>
                    <a:pt x="7000367" y="3260852"/>
                  </a:lnTo>
                  <a:lnTo>
                    <a:pt x="7006717" y="3260852"/>
                  </a:lnTo>
                  <a:cubicBezTo>
                    <a:pt x="7006717" y="3352038"/>
                    <a:pt x="6932676" y="3425952"/>
                    <a:pt x="6841236" y="3425952"/>
                  </a:cubicBezTo>
                  <a:lnTo>
                    <a:pt x="6841236" y="3419602"/>
                  </a:lnTo>
                  <a:lnTo>
                    <a:pt x="6841236" y="3425952"/>
                  </a:lnTo>
                  <a:lnTo>
                    <a:pt x="165481" y="3425952"/>
                  </a:lnTo>
                  <a:lnTo>
                    <a:pt x="165481" y="3419602"/>
                  </a:lnTo>
                  <a:lnTo>
                    <a:pt x="165481" y="3425952"/>
                  </a:lnTo>
                  <a:cubicBezTo>
                    <a:pt x="74168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481" y="3413252"/>
                  </a:cubicBezTo>
                  <a:lnTo>
                    <a:pt x="6841236" y="3413252"/>
                  </a:lnTo>
                  <a:cubicBezTo>
                    <a:pt x="6925564" y="3413252"/>
                    <a:pt x="6994017" y="3345053"/>
                    <a:pt x="6994017" y="3260852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43209" y="387682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E-Learning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3209" y="4423172"/>
            <a:ext cx="465936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Audiobook systems and educational content delivery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476" y="6460627"/>
            <a:ext cx="8019459" cy="1662265"/>
            <a:chOff x="0" y="0"/>
            <a:chExt cx="10692613" cy="22163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0679938" cy="2203577"/>
            </a:xfrm>
            <a:custGeom>
              <a:avLst/>
              <a:gdLst/>
              <a:ahLst/>
              <a:cxnLst/>
              <a:rect r="r" b="b" t="t" l="l"/>
              <a:pathLst>
                <a:path h="2203577" w="10679938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520426" y="0"/>
                  </a:lnTo>
                  <a:cubicBezTo>
                    <a:pt x="10608564" y="0"/>
                    <a:pt x="10679938" y="71120"/>
                    <a:pt x="10679938" y="158750"/>
                  </a:cubicBezTo>
                  <a:lnTo>
                    <a:pt x="10679938" y="2044827"/>
                  </a:lnTo>
                  <a:cubicBezTo>
                    <a:pt x="10679938" y="2132457"/>
                    <a:pt x="10608564" y="2203577"/>
                    <a:pt x="10520426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2638" cy="2216277"/>
            </a:xfrm>
            <a:custGeom>
              <a:avLst/>
              <a:gdLst/>
              <a:ahLst/>
              <a:cxnLst/>
              <a:rect r="r" b="b" t="t" l="l"/>
              <a:pathLst>
                <a:path h="2216277" w="10692638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526776" y="0"/>
                  </a:lnTo>
                  <a:lnTo>
                    <a:pt x="10526776" y="6350"/>
                  </a:lnTo>
                  <a:lnTo>
                    <a:pt x="10526776" y="0"/>
                  </a:lnTo>
                  <a:cubicBezTo>
                    <a:pt x="10618343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2051177"/>
                  </a:lnTo>
                  <a:lnTo>
                    <a:pt x="10686288" y="2051177"/>
                  </a:lnTo>
                  <a:lnTo>
                    <a:pt x="10692638" y="2051177"/>
                  </a:lnTo>
                  <a:cubicBezTo>
                    <a:pt x="10692638" y="2142363"/>
                    <a:pt x="10618343" y="2216277"/>
                    <a:pt x="10526776" y="2216277"/>
                  </a:cubicBezTo>
                  <a:lnTo>
                    <a:pt x="10526776" y="2209927"/>
                  </a:lnTo>
                  <a:lnTo>
                    <a:pt x="10526776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0526776" y="2203577"/>
                  </a:lnTo>
                  <a:cubicBezTo>
                    <a:pt x="10611358" y="2203577"/>
                    <a:pt x="10679938" y="2135251"/>
                    <a:pt x="10679938" y="2051177"/>
                  </a:cubicBezTo>
                  <a:lnTo>
                    <a:pt x="10679938" y="165100"/>
                  </a:lnTo>
                  <a:cubicBezTo>
                    <a:pt x="10679938" y="80899"/>
                    <a:pt x="10611358" y="12700"/>
                    <a:pt x="10526776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85284" y="672033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Announcements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284" y="7266680"/>
            <a:ext cx="742384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Automated announcement systems for public spaces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80922" y="6460627"/>
            <a:ext cx="8019459" cy="1662265"/>
            <a:chOff x="0" y="0"/>
            <a:chExt cx="10692613" cy="22163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10679938" cy="2203577"/>
            </a:xfrm>
            <a:custGeom>
              <a:avLst/>
              <a:gdLst/>
              <a:ahLst/>
              <a:cxnLst/>
              <a:rect r="r" b="b" t="t" l="l"/>
              <a:pathLst>
                <a:path h="2203577" w="10679938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0520426" y="0"/>
                  </a:lnTo>
                  <a:cubicBezTo>
                    <a:pt x="10608564" y="0"/>
                    <a:pt x="10679938" y="71120"/>
                    <a:pt x="10679938" y="158750"/>
                  </a:cubicBezTo>
                  <a:lnTo>
                    <a:pt x="10679938" y="2044827"/>
                  </a:lnTo>
                  <a:cubicBezTo>
                    <a:pt x="10679938" y="2132457"/>
                    <a:pt x="10608564" y="2203577"/>
                    <a:pt x="10520426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92638" cy="2216277"/>
            </a:xfrm>
            <a:custGeom>
              <a:avLst/>
              <a:gdLst/>
              <a:ahLst/>
              <a:cxnLst/>
              <a:rect r="r" b="b" t="t" l="l"/>
              <a:pathLst>
                <a:path h="2216277" w="10692638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0526776" y="0"/>
                  </a:lnTo>
                  <a:lnTo>
                    <a:pt x="10526776" y="6350"/>
                  </a:lnTo>
                  <a:lnTo>
                    <a:pt x="10526776" y="0"/>
                  </a:lnTo>
                  <a:cubicBezTo>
                    <a:pt x="10618343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2051177"/>
                  </a:lnTo>
                  <a:lnTo>
                    <a:pt x="10686288" y="2051177"/>
                  </a:lnTo>
                  <a:lnTo>
                    <a:pt x="10692638" y="2051177"/>
                  </a:lnTo>
                  <a:cubicBezTo>
                    <a:pt x="10692638" y="2142363"/>
                    <a:pt x="10618343" y="2216277"/>
                    <a:pt x="10526776" y="2216277"/>
                  </a:cubicBezTo>
                  <a:lnTo>
                    <a:pt x="10526776" y="2209927"/>
                  </a:lnTo>
                  <a:lnTo>
                    <a:pt x="10526776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0526776" y="2203577"/>
                  </a:lnTo>
                  <a:cubicBezTo>
                    <a:pt x="10611358" y="2203577"/>
                    <a:pt x="10679938" y="2135251"/>
                    <a:pt x="10679938" y="2051177"/>
                  </a:cubicBezTo>
                  <a:lnTo>
                    <a:pt x="10679938" y="165100"/>
                  </a:lnTo>
                  <a:cubicBezTo>
                    <a:pt x="10679938" y="80899"/>
                    <a:pt x="10611358" y="12700"/>
                    <a:pt x="10526776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578731" y="672033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Customer Support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78731" y="7266680"/>
            <a:ext cx="742384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Interactive Voice Response (IVR) systems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88834" y="714223"/>
            <a:ext cx="7551687" cy="76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14615" y="2198484"/>
            <a:ext cx="240059" cy="1047007"/>
            <a:chOff x="0" y="0"/>
            <a:chExt cx="320078" cy="13960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307340" cy="1383284"/>
            </a:xfrm>
            <a:custGeom>
              <a:avLst/>
              <a:gdLst/>
              <a:ahLst/>
              <a:cxnLst/>
              <a:rect r="r" b="b" t="t" l="l"/>
              <a:pathLst>
                <a:path h="1383284" w="307340">
                  <a:moveTo>
                    <a:pt x="0" y="133223"/>
                  </a:moveTo>
                  <a:cubicBezTo>
                    <a:pt x="0" y="59690"/>
                    <a:pt x="57785" y="0"/>
                    <a:pt x="129159" y="0"/>
                  </a:cubicBezTo>
                  <a:lnTo>
                    <a:pt x="178308" y="0"/>
                  </a:lnTo>
                  <a:cubicBezTo>
                    <a:pt x="249555" y="0"/>
                    <a:pt x="307340" y="59690"/>
                    <a:pt x="307340" y="133223"/>
                  </a:cubicBezTo>
                  <a:lnTo>
                    <a:pt x="307340" y="1250061"/>
                  </a:lnTo>
                  <a:cubicBezTo>
                    <a:pt x="307340" y="1323594"/>
                    <a:pt x="249555" y="1383284"/>
                    <a:pt x="178181" y="1383284"/>
                  </a:cubicBezTo>
                  <a:lnTo>
                    <a:pt x="129159" y="1383284"/>
                  </a:lnTo>
                  <a:cubicBezTo>
                    <a:pt x="57785" y="1383284"/>
                    <a:pt x="0" y="1323594"/>
                    <a:pt x="0" y="1250061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040" cy="1395984"/>
            </a:xfrm>
            <a:custGeom>
              <a:avLst/>
              <a:gdLst/>
              <a:ahLst/>
              <a:cxnLst/>
              <a:rect r="r" b="b" t="t" l="l"/>
              <a:pathLst>
                <a:path h="1395984" w="320040">
                  <a:moveTo>
                    <a:pt x="0" y="139573"/>
                  </a:moveTo>
                  <a:cubicBezTo>
                    <a:pt x="0" y="62738"/>
                    <a:pt x="60452" y="0"/>
                    <a:pt x="135509" y="0"/>
                  </a:cubicBez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cubicBezTo>
                    <a:pt x="259588" y="0"/>
                    <a:pt x="320040" y="62738"/>
                    <a:pt x="320040" y="139573"/>
                  </a:cubicBezTo>
                  <a:lnTo>
                    <a:pt x="320040" y="1256411"/>
                  </a:lnTo>
                  <a:lnTo>
                    <a:pt x="313690" y="1256411"/>
                  </a:lnTo>
                  <a:lnTo>
                    <a:pt x="320040" y="1256411"/>
                  </a:lnTo>
                  <a:cubicBezTo>
                    <a:pt x="320040" y="1333373"/>
                    <a:pt x="259588" y="1395984"/>
                    <a:pt x="184531" y="1395984"/>
                  </a:cubicBezTo>
                  <a:lnTo>
                    <a:pt x="184531" y="1389634"/>
                  </a:lnTo>
                  <a:lnTo>
                    <a:pt x="184531" y="1395984"/>
                  </a:lnTo>
                  <a:lnTo>
                    <a:pt x="135509" y="1395984"/>
                  </a:lnTo>
                  <a:lnTo>
                    <a:pt x="135509" y="1389634"/>
                  </a:lnTo>
                  <a:lnTo>
                    <a:pt x="135509" y="1395984"/>
                  </a:lnTo>
                  <a:cubicBezTo>
                    <a:pt x="60452" y="1395984"/>
                    <a:pt x="0" y="1333373"/>
                    <a:pt x="0" y="1256411"/>
                  </a:cubicBezTo>
                  <a:lnTo>
                    <a:pt x="0" y="139573"/>
                  </a:lnTo>
                  <a:lnTo>
                    <a:pt x="6350" y="139573"/>
                  </a:lnTo>
                  <a:lnTo>
                    <a:pt x="0" y="139573"/>
                  </a:lnTo>
                  <a:moveTo>
                    <a:pt x="12700" y="139573"/>
                  </a:moveTo>
                  <a:lnTo>
                    <a:pt x="12700" y="1256411"/>
                  </a:lnTo>
                  <a:lnTo>
                    <a:pt x="6350" y="1256411"/>
                  </a:lnTo>
                  <a:lnTo>
                    <a:pt x="12700" y="1256411"/>
                  </a:lnTo>
                  <a:cubicBezTo>
                    <a:pt x="12700" y="1326642"/>
                    <a:pt x="67818" y="1383284"/>
                    <a:pt x="135509" y="1383284"/>
                  </a:cubicBezTo>
                  <a:lnTo>
                    <a:pt x="184658" y="1383284"/>
                  </a:lnTo>
                  <a:cubicBezTo>
                    <a:pt x="252222" y="1383284"/>
                    <a:pt x="307467" y="1326642"/>
                    <a:pt x="307467" y="1256411"/>
                  </a:cubicBezTo>
                  <a:lnTo>
                    <a:pt x="307467" y="139573"/>
                  </a:lnTo>
                  <a:lnTo>
                    <a:pt x="313817" y="139573"/>
                  </a:lnTo>
                  <a:lnTo>
                    <a:pt x="307467" y="139573"/>
                  </a:lnTo>
                  <a:cubicBezTo>
                    <a:pt x="307340" y="69342"/>
                    <a:pt x="252222" y="12700"/>
                    <a:pt x="184658" y="12700"/>
                  </a:cubicBezTo>
                  <a:lnTo>
                    <a:pt x="135509" y="12700"/>
                  </a:lnTo>
                  <a:lnTo>
                    <a:pt x="135509" y="6350"/>
                  </a:lnTo>
                  <a:lnTo>
                    <a:pt x="135509" y="12700"/>
                  </a:lnTo>
                  <a:cubicBezTo>
                    <a:pt x="67818" y="12700"/>
                    <a:pt x="12700" y="69342"/>
                    <a:pt x="12700" y="13957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4072" y="2047132"/>
            <a:ext cx="701278" cy="701278"/>
            <a:chOff x="0" y="0"/>
            <a:chExt cx="935038" cy="935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922401" cy="922401"/>
            </a:xfrm>
            <a:custGeom>
              <a:avLst/>
              <a:gdLst/>
              <a:ahLst/>
              <a:cxnLst/>
              <a:rect r="r" b="b" t="t" l="l"/>
              <a:pathLst>
                <a:path h="922401" w="922401">
                  <a:moveTo>
                    <a:pt x="0" y="461137"/>
                  </a:moveTo>
                  <a:cubicBezTo>
                    <a:pt x="0" y="206502"/>
                    <a:pt x="206502" y="0"/>
                    <a:pt x="461137" y="0"/>
                  </a:cubicBezTo>
                  <a:cubicBezTo>
                    <a:pt x="715772" y="0"/>
                    <a:pt x="922401" y="206502"/>
                    <a:pt x="922401" y="461137"/>
                  </a:cubicBezTo>
                  <a:cubicBezTo>
                    <a:pt x="922401" y="715772"/>
                    <a:pt x="715899" y="922401"/>
                    <a:pt x="461137" y="922401"/>
                  </a:cubicBezTo>
                  <a:cubicBezTo>
                    <a:pt x="206375" y="922401"/>
                    <a:pt x="0" y="715899"/>
                    <a:pt x="0" y="46113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5101" cy="934974"/>
            </a:xfrm>
            <a:custGeom>
              <a:avLst/>
              <a:gdLst/>
              <a:ahLst/>
              <a:cxnLst/>
              <a:rect r="r" b="b" t="t" l="l"/>
              <a:pathLst>
                <a:path h="934974" w="935101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468630" y="0"/>
                    <a:pt x="469900" y="381"/>
                    <a:pt x="470916" y="1016"/>
                  </a:cubicBezTo>
                  <a:lnTo>
                    <a:pt x="467487" y="6350"/>
                  </a:lnTo>
                  <a:lnTo>
                    <a:pt x="467487" y="0"/>
                  </a:lnTo>
                  <a:lnTo>
                    <a:pt x="467487" y="6350"/>
                  </a:lnTo>
                  <a:lnTo>
                    <a:pt x="467487" y="0"/>
                  </a:lnTo>
                  <a:cubicBezTo>
                    <a:pt x="725678" y="0"/>
                    <a:pt x="935101" y="209296"/>
                    <a:pt x="935101" y="467487"/>
                  </a:cubicBezTo>
                  <a:cubicBezTo>
                    <a:pt x="935101" y="469138"/>
                    <a:pt x="934466" y="470789"/>
                    <a:pt x="933196" y="471932"/>
                  </a:cubicBezTo>
                  <a:lnTo>
                    <a:pt x="928751" y="467487"/>
                  </a:lnTo>
                  <a:lnTo>
                    <a:pt x="935101" y="467487"/>
                  </a:lnTo>
                  <a:cubicBezTo>
                    <a:pt x="935101" y="725678"/>
                    <a:pt x="725805" y="934974"/>
                    <a:pt x="467614" y="934974"/>
                  </a:cubicBezTo>
                  <a:lnTo>
                    <a:pt x="467614" y="928624"/>
                  </a:lnTo>
                  <a:lnTo>
                    <a:pt x="467614" y="934974"/>
                  </a:lnTo>
                  <a:cubicBezTo>
                    <a:pt x="209296" y="935101"/>
                    <a:pt x="0" y="725678"/>
                    <a:pt x="0" y="467487"/>
                  </a:cubicBezTo>
                  <a:moveTo>
                    <a:pt x="12700" y="467487"/>
                  </a:moveTo>
                  <a:lnTo>
                    <a:pt x="6350" y="467487"/>
                  </a:lnTo>
                  <a:lnTo>
                    <a:pt x="12700" y="467487"/>
                  </a:lnTo>
                  <a:cubicBezTo>
                    <a:pt x="12700" y="718693"/>
                    <a:pt x="216281" y="922401"/>
                    <a:pt x="467487" y="922401"/>
                  </a:cubicBezTo>
                  <a:cubicBezTo>
                    <a:pt x="718693" y="922401"/>
                    <a:pt x="922401" y="718693"/>
                    <a:pt x="922401" y="467487"/>
                  </a:cubicBezTo>
                  <a:cubicBezTo>
                    <a:pt x="922401" y="465836"/>
                    <a:pt x="923036" y="464185"/>
                    <a:pt x="924306" y="463042"/>
                  </a:cubicBezTo>
                  <a:lnTo>
                    <a:pt x="928751" y="467487"/>
                  </a:lnTo>
                  <a:lnTo>
                    <a:pt x="922401" y="467487"/>
                  </a:lnTo>
                  <a:cubicBezTo>
                    <a:pt x="922401" y="216281"/>
                    <a:pt x="718693" y="12700"/>
                    <a:pt x="467487" y="12700"/>
                  </a:cubicBezTo>
                  <a:cubicBezTo>
                    <a:pt x="466344" y="12700"/>
                    <a:pt x="465074" y="12319"/>
                    <a:pt x="464058" y="11684"/>
                  </a:cubicBezTo>
                  <a:lnTo>
                    <a:pt x="467487" y="6350"/>
                  </a:lnTo>
                  <a:lnTo>
                    <a:pt x="467487" y="12700"/>
                  </a:lnTo>
                  <a:cubicBezTo>
                    <a:pt x="216281" y="12700"/>
                    <a:pt x="12700" y="216281"/>
                    <a:pt x="12700" y="467487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361780" y="2224830"/>
            <a:ext cx="345872" cy="345872"/>
          </a:xfrm>
          <a:custGeom>
            <a:avLst/>
            <a:gdLst/>
            <a:ahLst/>
            <a:cxnLst/>
            <a:rect r="r" b="b" t="t" l="l"/>
            <a:pathLst>
              <a:path h="345872" w="345872">
                <a:moveTo>
                  <a:pt x="0" y="0"/>
                </a:moveTo>
                <a:lnTo>
                  <a:pt x="345872" y="0"/>
                </a:lnTo>
                <a:lnTo>
                  <a:pt x="345872" y="345872"/>
                </a:lnTo>
                <a:lnTo>
                  <a:pt x="0" y="345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68116" y="2059334"/>
            <a:ext cx="2882208" cy="3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Current Success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68116" y="2494064"/>
            <a:ext cx="15031041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Successfully converts text into understandable, natural speech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60487" y="3769519"/>
            <a:ext cx="240059" cy="1047007"/>
            <a:chOff x="0" y="0"/>
            <a:chExt cx="320078" cy="13960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307340" cy="1383284"/>
            </a:xfrm>
            <a:custGeom>
              <a:avLst/>
              <a:gdLst/>
              <a:ahLst/>
              <a:cxnLst/>
              <a:rect r="r" b="b" t="t" l="l"/>
              <a:pathLst>
                <a:path h="1383284" w="307340">
                  <a:moveTo>
                    <a:pt x="0" y="133223"/>
                  </a:moveTo>
                  <a:cubicBezTo>
                    <a:pt x="0" y="59690"/>
                    <a:pt x="57785" y="0"/>
                    <a:pt x="129159" y="0"/>
                  </a:cubicBezTo>
                  <a:lnTo>
                    <a:pt x="178308" y="0"/>
                  </a:lnTo>
                  <a:cubicBezTo>
                    <a:pt x="249555" y="0"/>
                    <a:pt x="307340" y="59690"/>
                    <a:pt x="307340" y="133223"/>
                  </a:cubicBezTo>
                  <a:lnTo>
                    <a:pt x="307340" y="1250061"/>
                  </a:lnTo>
                  <a:cubicBezTo>
                    <a:pt x="307340" y="1323594"/>
                    <a:pt x="249555" y="1383284"/>
                    <a:pt x="178181" y="1383284"/>
                  </a:cubicBezTo>
                  <a:lnTo>
                    <a:pt x="129159" y="1383284"/>
                  </a:lnTo>
                  <a:cubicBezTo>
                    <a:pt x="57785" y="1383284"/>
                    <a:pt x="0" y="1323594"/>
                    <a:pt x="0" y="1250061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0040" cy="1395984"/>
            </a:xfrm>
            <a:custGeom>
              <a:avLst/>
              <a:gdLst/>
              <a:ahLst/>
              <a:cxnLst/>
              <a:rect r="r" b="b" t="t" l="l"/>
              <a:pathLst>
                <a:path h="1395984" w="320040">
                  <a:moveTo>
                    <a:pt x="0" y="139573"/>
                  </a:moveTo>
                  <a:cubicBezTo>
                    <a:pt x="0" y="62738"/>
                    <a:pt x="60452" y="0"/>
                    <a:pt x="135509" y="0"/>
                  </a:cubicBez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cubicBezTo>
                    <a:pt x="259588" y="0"/>
                    <a:pt x="320040" y="62738"/>
                    <a:pt x="320040" y="139573"/>
                  </a:cubicBezTo>
                  <a:lnTo>
                    <a:pt x="320040" y="1256411"/>
                  </a:lnTo>
                  <a:lnTo>
                    <a:pt x="313690" y="1256411"/>
                  </a:lnTo>
                  <a:lnTo>
                    <a:pt x="320040" y="1256411"/>
                  </a:lnTo>
                  <a:cubicBezTo>
                    <a:pt x="320040" y="1333373"/>
                    <a:pt x="259588" y="1395984"/>
                    <a:pt x="184531" y="1395984"/>
                  </a:cubicBezTo>
                  <a:lnTo>
                    <a:pt x="184531" y="1389634"/>
                  </a:lnTo>
                  <a:lnTo>
                    <a:pt x="184531" y="1395984"/>
                  </a:lnTo>
                  <a:lnTo>
                    <a:pt x="135509" y="1395984"/>
                  </a:lnTo>
                  <a:lnTo>
                    <a:pt x="135509" y="1389634"/>
                  </a:lnTo>
                  <a:lnTo>
                    <a:pt x="135509" y="1395984"/>
                  </a:lnTo>
                  <a:cubicBezTo>
                    <a:pt x="60452" y="1395984"/>
                    <a:pt x="0" y="1333373"/>
                    <a:pt x="0" y="1256411"/>
                  </a:cubicBezTo>
                  <a:lnTo>
                    <a:pt x="0" y="139573"/>
                  </a:lnTo>
                  <a:lnTo>
                    <a:pt x="6350" y="139573"/>
                  </a:lnTo>
                  <a:lnTo>
                    <a:pt x="0" y="139573"/>
                  </a:lnTo>
                  <a:moveTo>
                    <a:pt x="12700" y="139573"/>
                  </a:moveTo>
                  <a:lnTo>
                    <a:pt x="12700" y="1256411"/>
                  </a:lnTo>
                  <a:lnTo>
                    <a:pt x="6350" y="1256411"/>
                  </a:lnTo>
                  <a:lnTo>
                    <a:pt x="12700" y="1256411"/>
                  </a:lnTo>
                  <a:cubicBezTo>
                    <a:pt x="12700" y="1326642"/>
                    <a:pt x="67818" y="1383284"/>
                    <a:pt x="135509" y="1383284"/>
                  </a:cubicBezTo>
                  <a:lnTo>
                    <a:pt x="184658" y="1383284"/>
                  </a:lnTo>
                  <a:cubicBezTo>
                    <a:pt x="252222" y="1383284"/>
                    <a:pt x="307467" y="1326642"/>
                    <a:pt x="307467" y="1256411"/>
                  </a:cubicBezTo>
                  <a:lnTo>
                    <a:pt x="307467" y="139573"/>
                  </a:lnTo>
                  <a:lnTo>
                    <a:pt x="313817" y="139573"/>
                  </a:lnTo>
                  <a:lnTo>
                    <a:pt x="307467" y="139573"/>
                  </a:lnTo>
                  <a:cubicBezTo>
                    <a:pt x="307340" y="69342"/>
                    <a:pt x="252222" y="12700"/>
                    <a:pt x="184658" y="12700"/>
                  </a:cubicBezTo>
                  <a:lnTo>
                    <a:pt x="135509" y="12700"/>
                  </a:lnTo>
                  <a:lnTo>
                    <a:pt x="135509" y="6350"/>
                  </a:lnTo>
                  <a:lnTo>
                    <a:pt x="135509" y="12700"/>
                  </a:lnTo>
                  <a:cubicBezTo>
                    <a:pt x="67818" y="12700"/>
                    <a:pt x="12700" y="69342"/>
                    <a:pt x="12700" y="13957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29953" y="3618157"/>
            <a:ext cx="701278" cy="701278"/>
            <a:chOff x="0" y="0"/>
            <a:chExt cx="935038" cy="9350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922401" cy="922401"/>
            </a:xfrm>
            <a:custGeom>
              <a:avLst/>
              <a:gdLst/>
              <a:ahLst/>
              <a:cxnLst/>
              <a:rect r="r" b="b" t="t" l="l"/>
              <a:pathLst>
                <a:path h="922401" w="922401">
                  <a:moveTo>
                    <a:pt x="0" y="461137"/>
                  </a:moveTo>
                  <a:cubicBezTo>
                    <a:pt x="0" y="206502"/>
                    <a:pt x="206502" y="0"/>
                    <a:pt x="461137" y="0"/>
                  </a:cubicBezTo>
                  <a:cubicBezTo>
                    <a:pt x="715772" y="0"/>
                    <a:pt x="922401" y="206502"/>
                    <a:pt x="922401" y="461137"/>
                  </a:cubicBezTo>
                  <a:cubicBezTo>
                    <a:pt x="922401" y="715772"/>
                    <a:pt x="715899" y="922401"/>
                    <a:pt x="461137" y="922401"/>
                  </a:cubicBezTo>
                  <a:cubicBezTo>
                    <a:pt x="206375" y="922401"/>
                    <a:pt x="0" y="715899"/>
                    <a:pt x="0" y="46113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5101" cy="934974"/>
            </a:xfrm>
            <a:custGeom>
              <a:avLst/>
              <a:gdLst/>
              <a:ahLst/>
              <a:cxnLst/>
              <a:rect r="r" b="b" t="t" l="l"/>
              <a:pathLst>
                <a:path h="934974" w="935101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468630" y="0"/>
                    <a:pt x="469900" y="381"/>
                    <a:pt x="470916" y="1016"/>
                  </a:cubicBezTo>
                  <a:lnTo>
                    <a:pt x="467487" y="6350"/>
                  </a:lnTo>
                  <a:lnTo>
                    <a:pt x="467487" y="0"/>
                  </a:lnTo>
                  <a:lnTo>
                    <a:pt x="467487" y="6350"/>
                  </a:lnTo>
                  <a:lnTo>
                    <a:pt x="467487" y="0"/>
                  </a:lnTo>
                  <a:cubicBezTo>
                    <a:pt x="725678" y="0"/>
                    <a:pt x="935101" y="209296"/>
                    <a:pt x="935101" y="467487"/>
                  </a:cubicBezTo>
                  <a:cubicBezTo>
                    <a:pt x="935101" y="469138"/>
                    <a:pt x="934466" y="470789"/>
                    <a:pt x="933196" y="471932"/>
                  </a:cubicBezTo>
                  <a:lnTo>
                    <a:pt x="928751" y="467487"/>
                  </a:lnTo>
                  <a:lnTo>
                    <a:pt x="935101" y="467487"/>
                  </a:lnTo>
                  <a:cubicBezTo>
                    <a:pt x="935101" y="725678"/>
                    <a:pt x="725805" y="934974"/>
                    <a:pt x="467614" y="934974"/>
                  </a:cubicBezTo>
                  <a:lnTo>
                    <a:pt x="467614" y="928624"/>
                  </a:lnTo>
                  <a:lnTo>
                    <a:pt x="467614" y="934974"/>
                  </a:lnTo>
                  <a:cubicBezTo>
                    <a:pt x="209296" y="935101"/>
                    <a:pt x="0" y="725678"/>
                    <a:pt x="0" y="467487"/>
                  </a:cubicBezTo>
                  <a:moveTo>
                    <a:pt x="12700" y="467487"/>
                  </a:moveTo>
                  <a:lnTo>
                    <a:pt x="6350" y="467487"/>
                  </a:lnTo>
                  <a:lnTo>
                    <a:pt x="12700" y="467487"/>
                  </a:lnTo>
                  <a:cubicBezTo>
                    <a:pt x="12700" y="718693"/>
                    <a:pt x="216281" y="922401"/>
                    <a:pt x="467487" y="922401"/>
                  </a:cubicBezTo>
                  <a:cubicBezTo>
                    <a:pt x="718693" y="922401"/>
                    <a:pt x="922401" y="718693"/>
                    <a:pt x="922401" y="467487"/>
                  </a:cubicBezTo>
                  <a:cubicBezTo>
                    <a:pt x="922401" y="465836"/>
                    <a:pt x="923036" y="464185"/>
                    <a:pt x="924306" y="463042"/>
                  </a:cubicBezTo>
                  <a:lnTo>
                    <a:pt x="928751" y="467487"/>
                  </a:lnTo>
                  <a:lnTo>
                    <a:pt x="922401" y="467487"/>
                  </a:lnTo>
                  <a:cubicBezTo>
                    <a:pt x="922401" y="216281"/>
                    <a:pt x="718693" y="12700"/>
                    <a:pt x="467487" y="12700"/>
                  </a:cubicBezTo>
                  <a:cubicBezTo>
                    <a:pt x="466344" y="12700"/>
                    <a:pt x="465074" y="12319"/>
                    <a:pt x="464058" y="11684"/>
                  </a:cubicBezTo>
                  <a:lnTo>
                    <a:pt x="467487" y="6350"/>
                  </a:lnTo>
                  <a:lnTo>
                    <a:pt x="467487" y="12700"/>
                  </a:lnTo>
                  <a:cubicBezTo>
                    <a:pt x="216281" y="12700"/>
                    <a:pt x="12700" y="216281"/>
                    <a:pt x="12700" y="467487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707652" y="3795865"/>
            <a:ext cx="345872" cy="345872"/>
          </a:xfrm>
          <a:custGeom>
            <a:avLst/>
            <a:gdLst/>
            <a:ahLst/>
            <a:cxnLst/>
            <a:rect r="r" b="b" t="t" l="l"/>
            <a:pathLst>
              <a:path h="345872" w="345872">
                <a:moveTo>
                  <a:pt x="0" y="0"/>
                </a:moveTo>
                <a:lnTo>
                  <a:pt x="345871" y="0"/>
                </a:lnTo>
                <a:lnTo>
                  <a:pt x="345871" y="345872"/>
                </a:lnTo>
                <a:lnTo>
                  <a:pt x="0" y="34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432" r="0" b="-32432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13997" y="3630368"/>
            <a:ext cx="2882208" cy="3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Implementation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13997" y="4065089"/>
            <a:ext cx="14685169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Simple and efficient Python-based implementation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106368" y="5340553"/>
            <a:ext cx="240059" cy="1047007"/>
            <a:chOff x="0" y="0"/>
            <a:chExt cx="320078" cy="13960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307340" cy="1383284"/>
            </a:xfrm>
            <a:custGeom>
              <a:avLst/>
              <a:gdLst/>
              <a:ahLst/>
              <a:cxnLst/>
              <a:rect r="r" b="b" t="t" l="l"/>
              <a:pathLst>
                <a:path h="1383284" w="307340">
                  <a:moveTo>
                    <a:pt x="0" y="133223"/>
                  </a:moveTo>
                  <a:cubicBezTo>
                    <a:pt x="0" y="59690"/>
                    <a:pt x="57785" y="0"/>
                    <a:pt x="129159" y="0"/>
                  </a:cubicBezTo>
                  <a:lnTo>
                    <a:pt x="178308" y="0"/>
                  </a:lnTo>
                  <a:cubicBezTo>
                    <a:pt x="249555" y="0"/>
                    <a:pt x="307340" y="59690"/>
                    <a:pt x="307340" y="133223"/>
                  </a:cubicBezTo>
                  <a:lnTo>
                    <a:pt x="307340" y="1250061"/>
                  </a:lnTo>
                  <a:cubicBezTo>
                    <a:pt x="307340" y="1323594"/>
                    <a:pt x="249555" y="1383284"/>
                    <a:pt x="178181" y="1383284"/>
                  </a:cubicBezTo>
                  <a:lnTo>
                    <a:pt x="129159" y="1383284"/>
                  </a:lnTo>
                  <a:cubicBezTo>
                    <a:pt x="57785" y="1383284"/>
                    <a:pt x="0" y="1323594"/>
                    <a:pt x="0" y="1250061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0040" cy="1395984"/>
            </a:xfrm>
            <a:custGeom>
              <a:avLst/>
              <a:gdLst/>
              <a:ahLst/>
              <a:cxnLst/>
              <a:rect r="r" b="b" t="t" l="l"/>
              <a:pathLst>
                <a:path h="1395984" w="320040">
                  <a:moveTo>
                    <a:pt x="0" y="139573"/>
                  </a:moveTo>
                  <a:cubicBezTo>
                    <a:pt x="0" y="62738"/>
                    <a:pt x="60452" y="0"/>
                    <a:pt x="135509" y="0"/>
                  </a:cubicBez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cubicBezTo>
                    <a:pt x="259588" y="0"/>
                    <a:pt x="320040" y="62738"/>
                    <a:pt x="320040" y="139573"/>
                  </a:cubicBezTo>
                  <a:lnTo>
                    <a:pt x="320040" y="1256411"/>
                  </a:lnTo>
                  <a:lnTo>
                    <a:pt x="313690" y="1256411"/>
                  </a:lnTo>
                  <a:lnTo>
                    <a:pt x="320040" y="1256411"/>
                  </a:lnTo>
                  <a:cubicBezTo>
                    <a:pt x="320040" y="1333373"/>
                    <a:pt x="259588" y="1395984"/>
                    <a:pt x="184531" y="1395984"/>
                  </a:cubicBezTo>
                  <a:lnTo>
                    <a:pt x="184531" y="1389634"/>
                  </a:lnTo>
                  <a:lnTo>
                    <a:pt x="184531" y="1395984"/>
                  </a:lnTo>
                  <a:lnTo>
                    <a:pt x="135509" y="1395984"/>
                  </a:lnTo>
                  <a:lnTo>
                    <a:pt x="135509" y="1389634"/>
                  </a:lnTo>
                  <a:lnTo>
                    <a:pt x="135509" y="1395984"/>
                  </a:lnTo>
                  <a:cubicBezTo>
                    <a:pt x="60452" y="1395984"/>
                    <a:pt x="0" y="1333373"/>
                    <a:pt x="0" y="1256411"/>
                  </a:cubicBezTo>
                  <a:lnTo>
                    <a:pt x="0" y="139573"/>
                  </a:lnTo>
                  <a:lnTo>
                    <a:pt x="6350" y="139573"/>
                  </a:lnTo>
                  <a:lnTo>
                    <a:pt x="0" y="139573"/>
                  </a:lnTo>
                  <a:moveTo>
                    <a:pt x="12700" y="139573"/>
                  </a:moveTo>
                  <a:lnTo>
                    <a:pt x="12700" y="1256411"/>
                  </a:lnTo>
                  <a:lnTo>
                    <a:pt x="6350" y="1256411"/>
                  </a:lnTo>
                  <a:lnTo>
                    <a:pt x="12700" y="1256411"/>
                  </a:lnTo>
                  <a:cubicBezTo>
                    <a:pt x="12700" y="1326642"/>
                    <a:pt x="67818" y="1383284"/>
                    <a:pt x="135509" y="1383284"/>
                  </a:cubicBezTo>
                  <a:lnTo>
                    <a:pt x="184658" y="1383284"/>
                  </a:lnTo>
                  <a:cubicBezTo>
                    <a:pt x="252222" y="1383284"/>
                    <a:pt x="307467" y="1326642"/>
                    <a:pt x="307467" y="1256411"/>
                  </a:cubicBezTo>
                  <a:lnTo>
                    <a:pt x="307467" y="139573"/>
                  </a:lnTo>
                  <a:lnTo>
                    <a:pt x="313817" y="139573"/>
                  </a:lnTo>
                  <a:lnTo>
                    <a:pt x="307467" y="139573"/>
                  </a:lnTo>
                  <a:cubicBezTo>
                    <a:pt x="307340" y="69342"/>
                    <a:pt x="252222" y="12700"/>
                    <a:pt x="184658" y="12700"/>
                  </a:cubicBezTo>
                  <a:lnTo>
                    <a:pt x="135509" y="12700"/>
                  </a:lnTo>
                  <a:lnTo>
                    <a:pt x="135509" y="6350"/>
                  </a:lnTo>
                  <a:lnTo>
                    <a:pt x="135509" y="12700"/>
                  </a:lnTo>
                  <a:cubicBezTo>
                    <a:pt x="67818" y="12700"/>
                    <a:pt x="12700" y="69342"/>
                    <a:pt x="12700" y="13957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75834" y="5189191"/>
            <a:ext cx="701278" cy="701278"/>
            <a:chOff x="0" y="0"/>
            <a:chExt cx="935038" cy="9350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922401" cy="922401"/>
            </a:xfrm>
            <a:custGeom>
              <a:avLst/>
              <a:gdLst/>
              <a:ahLst/>
              <a:cxnLst/>
              <a:rect r="r" b="b" t="t" l="l"/>
              <a:pathLst>
                <a:path h="922401" w="922401">
                  <a:moveTo>
                    <a:pt x="0" y="461137"/>
                  </a:moveTo>
                  <a:cubicBezTo>
                    <a:pt x="0" y="206502"/>
                    <a:pt x="206502" y="0"/>
                    <a:pt x="461137" y="0"/>
                  </a:cubicBezTo>
                  <a:cubicBezTo>
                    <a:pt x="715772" y="0"/>
                    <a:pt x="922401" y="206502"/>
                    <a:pt x="922401" y="461137"/>
                  </a:cubicBezTo>
                  <a:cubicBezTo>
                    <a:pt x="922401" y="715772"/>
                    <a:pt x="715899" y="922401"/>
                    <a:pt x="461137" y="922401"/>
                  </a:cubicBezTo>
                  <a:cubicBezTo>
                    <a:pt x="206375" y="922401"/>
                    <a:pt x="0" y="715899"/>
                    <a:pt x="0" y="46113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5101" cy="934974"/>
            </a:xfrm>
            <a:custGeom>
              <a:avLst/>
              <a:gdLst/>
              <a:ahLst/>
              <a:cxnLst/>
              <a:rect r="r" b="b" t="t" l="l"/>
              <a:pathLst>
                <a:path h="934974" w="935101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468630" y="0"/>
                    <a:pt x="469900" y="381"/>
                    <a:pt x="470916" y="1016"/>
                  </a:cubicBezTo>
                  <a:lnTo>
                    <a:pt x="467487" y="6350"/>
                  </a:lnTo>
                  <a:lnTo>
                    <a:pt x="467487" y="0"/>
                  </a:lnTo>
                  <a:lnTo>
                    <a:pt x="467487" y="6350"/>
                  </a:lnTo>
                  <a:lnTo>
                    <a:pt x="467487" y="0"/>
                  </a:lnTo>
                  <a:cubicBezTo>
                    <a:pt x="725678" y="0"/>
                    <a:pt x="935101" y="209296"/>
                    <a:pt x="935101" y="467487"/>
                  </a:cubicBezTo>
                  <a:cubicBezTo>
                    <a:pt x="935101" y="469138"/>
                    <a:pt x="934466" y="470789"/>
                    <a:pt x="933196" y="471932"/>
                  </a:cubicBezTo>
                  <a:lnTo>
                    <a:pt x="928751" y="467487"/>
                  </a:lnTo>
                  <a:lnTo>
                    <a:pt x="935101" y="467487"/>
                  </a:lnTo>
                  <a:cubicBezTo>
                    <a:pt x="935101" y="725678"/>
                    <a:pt x="725805" y="934974"/>
                    <a:pt x="467614" y="934974"/>
                  </a:cubicBezTo>
                  <a:lnTo>
                    <a:pt x="467614" y="928624"/>
                  </a:lnTo>
                  <a:lnTo>
                    <a:pt x="467614" y="934974"/>
                  </a:lnTo>
                  <a:cubicBezTo>
                    <a:pt x="209296" y="935101"/>
                    <a:pt x="0" y="725678"/>
                    <a:pt x="0" y="467487"/>
                  </a:cubicBezTo>
                  <a:moveTo>
                    <a:pt x="12700" y="467487"/>
                  </a:moveTo>
                  <a:lnTo>
                    <a:pt x="6350" y="467487"/>
                  </a:lnTo>
                  <a:lnTo>
                    <a:pt x="12700" y="467487"/>
                  </a:lnTo>
                  <a:cubicBezTo>
                    <a:pt x="12700" y="718693"/>
                    <a:pt x="216281" y="922401"/>
                    <a:pt x="467487" y="922401"/>
                  </a:cubicBezTo>
                  <a:cubicBezTo>
                    <a:pt x="718693" y="922401"/>
                    <a:pt x="922401" y="718693"/>
                    <a:pt x="922401" y="467487"/>
                  </a:cubicBezTo>
                  <a:cubicBezTo>
                    <a:pt x="922401" y="465836"/>
                    <a:pt x="923036" y="464185"/>
                    <a:pt x="924306" y="463042"/>
                  </a:cubicBezTo>
                  <a:lnTo>
                    <a:pt x="928751" y="467487"/>
                  </a:lnTo>
                  <a:lnTo>
                    <a:pt x="922401" y="467487"/>
                  </a:lnTo>
                  <a:cubicBezTo>
                    <a:pt x="922401" y="216281"/>
                    <a:pt x="718693" y="12700"/>
                    <a:pt x="467487" y="12700"/>
                  </a:cubicBezTo>
                  <a:cubicBezTo>
                    <a:pt x="466344" y="12700"/>
                    <a:pt x="465074" y="12319"/>
                    <a:pt x="464058" y="11684"/>
                  </a:cubicBezTo>
                  <a:lnTo>
                    <a:pt x="467487" y="6350"/>
                  </a:lnTo>
                  <a:lnTo>
                    <a:pt x="467487" y="12700"/>
                  </a:lnTo>
                  <a:cubicBezTo>
                    <a:pt x="216281" y="12700"/>
                    <a:pt x="12700" y="216281"/>
                    <a:pt x="12700" y="467487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2053533" y="5366890"/>
            <a:ext cx="345872" cy="345872"/>
          </a:xfrm>
          <a:custGeom>
            <a:avLst/>
            <a:gdLst/>
            <a:ahLst/>
            <a:cxnLst/>
            <a:rect r="r" b="b" t="t" l="l"/>
            <a:pathLst>
              <a:path h="345872" w="345872">
                <a:moveTo>
                  <a:pt x="0" y="0"/>
                </a:moveTo>
                <a:lnTo>
                  <a:pt x="345872" y="0"/>
                </a:lnTo>
                <a:lnTo>
                  <a:pt x="345872" y="345872"/>
                </a:lnTo>
                <a:lnTo>
                  <a:pt x="0" y="345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759869" y="5201393"/>
            <a:ext cx="2882208" cy="3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Impact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59869" y="5636123"/>
            <a:ext cx="14339297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Enhances accessibility and user interaction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452240" y="6911578"/>
            <a:ext cx="240059" cy="1047007"/>
            <a:chOff x="0" y="0"/>
            <a:chExt cx="320078" cy="13960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307340" cy="1383284"/>
            </a:xfrm>
            <a:custGeom>
              <a:avLst/>
              <a:gdLst/>
              <a:ahLst/>
              <a:cxnLst/>
              <a:rect r="r" b="b" t="t" l="l"/>
              <a:pathLst>
                <a:path h="1383284" w="307340">
                  <a:moveTo>
                    <a:pt x="0" y="133223"/>
                  </a:moveTo>
                  <a:cubicBezTo>
                    <a:pt x="0" y="59690"/>
                    <a:pt x="57785" y="0"/>
                    <a:pt x="129159" y="0"/>
                  </a:cubicBezTo>
                  <a:lnTo>
                    <a:pt x="178308" y="0"/>
                  </a:lnTo>
                  <a:cubicBezTo>
                    <a:pt x="249555" y="0"/>
                    <a:pt x="307340" y="59690"/>
                    <a:pt x="307340" y="133223"/>
                  </a:cubicBezTo>
                  <a:lnTo>
                    <a:pt x="307340" y="1250061"/>
                  </a:lnTo>
                  <a:cubicBezTo>
                    <a:pt x="307340" y="1323594"/>
                    <a:pt x="249555" y="1383284"/>
                    <a:pt x="178181" y="1383284"/>
                  </a:cubicBezTo>
                  <a:lnTo>
                    <a:pt x="129159" y="1383284"/>
                  </a:lnTo>
                  <a:cubicBezTo>
                    <a:pt x="57785" y="1383284"/>
                    <a:pt x="0" y="1323594"/>
                    <a:pt x="0" y="1250061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0040" cy="1395984"/>
            </a:xfrm>
            <a:custGeom>
              <a:avLst/>
              <a:gdLst/>
              <a:ahLst/>
              <a:cxnLst/>
              <a:rect r="r" b="b" t="t" l="l"/>
              <a:pathLst>
                <a:path h="1395984" w="320040">
                  <a:moveTo>
                    <a:pt x="0" y="139573"/>
                  </a:moveTo>
                  <a:cubicBezTo>
                    <a:pt x="0" y="62738"/>
                    <a:pt x="60452" y="0"/>
                    <a:pt x="135509" y="0"/>
                  </a:cubicBez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cubicBezTo>
                    <a:pt x="259588" y="0"/>
                    <a:pt x="320040" y="62738"/>
                    <a:pt x="320040" y="139573"/>
                  </a:cubicBezTo>
                  <a:lnTo>
                    <a:pt x="320040" y="1256411"/>
                  </a:lnTo>
                  <a:lnTo>
                    <a:pt x="313690" y="1256411"/>
                  </a:lnTo>
                  <a:lnTo>
                    <a:pt x="320040" y="1256411"/>
                  </a:lnTo>
                  <a:cubicBezTo>
                    <a:pt x="320040" y="1333373"/>
                    <a:pt x="259588" y="1395984"/>
                    <a:pt x="184531" y="1395984"/>
                  </a:cubicBezTo>
                  <a:lnTo>
                    <a:pt x="184531" y="1389634"/>
                  </a:lnTo>
                  <a:lnTo>
                    <a:pt x="184531" y="1395984"/>
                  </a:lnTo>
                  <a:lnTo>
                    <a:pt x="135509" y="1395984"/>
                  </a:lnTo>
                  <a:lnTo>
                    <a:pt x="135509" y="1389634"/>
                  </a:lnTo>
                  <a:lnTo>
                    <a:pt x="135509" y="1395984"/>
                  </a:lnTo>
                  <a:cubicBezTo>
                    <a:pt x="60452" y="1395984"/>
                    <a:pt x="0" y="1333373"/>
                    <a:pt x="0" y="1256411"/>
                  </a:cubicBezTo>
                  <a:lnTo>
                    <a:pt x="0" y="139573"/>
                  </a:lnTo>
                  <a:lnTo>
                    <a:pt x="6350" y="139573"/>
                  </a:lnTo>
                  <a:lnTo>
                    <a:pt x="0" y="139573"/>
                  </a:lnTo>
                  <a:moveTo>
                    <a:pt x="12700" y="139573"/>
                  </a:moveTo>
                  <a:lnTo>
                    <a:pt x="12700" y="1256411"/>
                  </a:lnTo>
                  <a:lnTo>
                    <a:pt x="6350" y="1256411"/>
                  </a:lnTo>
                  <a:lnTo>
                    <a:pt x="12700" y="1256411"/>
                  </a:lnTo>
                  <a:cubicBezTo>
                    <a:pt x="12700" y="1326642"/>
                    <a:pt x="67818" y="1383284"/>
                    <a:pt x="135509" y="1383284"/>
                  </a:cubicBezTo>
                  <a:lnTo>
                    <a:pt x="184658" y="1383284"/>
                  </a:lnTo>
                  <a:cubicBezTo>
                    <a:pt x="252222" y="1383284"/>
                    <a:pt x="307467" y="1326642"/>
                    <a:pt x="307467" y="1256411"/>
                  </a:cubicBezTo>
                  <a:lnTo>
                    <a:pt x="307467" y="139573"/>
                  </a:lnTo>
                  <a:lnTo>
                    <a:pt x="313817" y="139573"/>
                  </a:lnTo>
                  <a:lnTo>
                    <a:pt x="307467" y="139573"/>
                  </a:lnTo>
                  <a:cubicBezTo>
                    <a:pt x="307340" y="69342"/>
                    <a:pt x="252222" y="12700"/>
                    <a:pt x="184658" y="12700"/>
                  </a:cubicBezTo>
                  <a:lnTo>
                    <a:pt x="135509" y="12700"/>
                  </a:lnTo>
                  <a:lnTo>
                    <a:pt x="135509" y="6350"/>
                  </a:lnTo>
                  <a:lnTo>
                    <a:pt x="135509" y="12700"/>
                  </a:lnTo>
                  <a:cubicBezTo>
                    <a:pt x="67818" y="12700"/>
                    <a:pt x="12700" y="69342"/>
                    <a:pt x="12700" y="13957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221706" y="6760216"/>
            <a:ext cx="701278" cy="701278"/>
            <a:chOff x="0" y="0"/>
            <a:chExt cx="935038" cy="93503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350" y="6350"/>
              <a:ext cx="922401" cy="922401"/>
            </a:xfrm>
            <a:custGeom>
              <a:avLst/>
              <a:gdLst/>
              <a:ahLst/>
              <a:cxnLst/>
              <a:rect r="r" b="b" t="t" l="l"/>
              <a:pathLst>
                <a:path h="922401" w="922401">
                  <a:moveTo>
                    <a:pt x="0" y="461137"/>
                  </a:moveTo>
                  <a:cubicBezTo>
                    <a:pt x="0" y="206502"/>
                    <a:pt x="206502" y="0"/>
                    <a:pt x="461137" y="0"/>
                  </a:cubicBezTo>
                  <a:cubicBezTo>
                    <a:pt x="715772" y="0"/>
                    <a:pt x="922401" y="206502"/>
                    <a:pt x="922401" y="461137"/>
                  </a:cubicBezTo>
                  <a:cubicBezTo>
                    <a:pt x="922401" y="715772"/>
                    <a:pt x="715899" y="922401"/>
                    <a:pt x="461137" y="922401"/>
                  </a:cubicBezTo>
                  <a:cubicBezTo>
                    <a:pt x="206375" y="922401"/>
                    <a:pt x="0" y="715899"/>
                    <a:pt x="0" y="46113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5101" cy="934974"/>
            </a:xfrm>
            <a:custGeom>
              <a:avLst/>
              <a:gdLst/>
              <a:ahLst/>
              <a:cxnLst/>
              <a:rect r="r" b="b" t="t" l="l"/>
              <a:pathLst>
                <a:path h="934974" w="935101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468630" y="0"/>
                    <a:pt x="469900" y="381"/>
                    <a:pt x="470916" y="1016"/>
                  </a:cubicBezTo>
                  <a:lnTo>
                    <a:pt x="467487" y="6350"/>
                  </a:lnTo>
                  <a:lnTo>
                    <a:pt x="467487" y="0"/>
                  </a:lnTo>
                  <a:lnTo>
                    <a:pt x="467487" y="6350"/>
                  </a:lnTo>
                  <a:lnTo>
                    <a:pt x="467487" y="0"/>
                  </a:lnTo>
                  <a:cubicBezTo>
                    <a:pt x="725678" y="0"/>
                    <a:pt x="935101" y="209296"/>
                    <a:pt x="935101" y="467487"/>
                  </a:cubicBezTo>
                  <a:cubicBezTo>
                    <a:pt x="935101" y="469138"/>
                    <a:pt x="934466" y="470789"/>
                    <a:pt x="933196" y="471932"/>
                  </a:cubicBezTo>
                  <a:lnTo>
                    <a:pt x="928751" y="467487"/>
                  </a:lnTo>
                  <a:lnTo>
                    <a:pt x="935101" y="467487"/>
                  </a:lnTo>
                  <a:cubicBezTo>
                    <a:pt x="935101" y="725678"/>
                    <a:pt x="725805" y="934974"/>
                    <a:pt x="467614" y="934974"/>
                  </a:cubicBezTo>
                  <a:lnTo>
                    <a:pt x="467614" y="928624"/>
                  </a:lnTo>
                  <a:lnTo>
                    <a:pt x="467614" y="934974"/>
                  </a:lnTo>
                  <a:cubicBezTo>
                    <a:pt x="209296" y="935101"/>
                    <a:pt x="0" y="725678"/>
                    <a:pt x="0" y="467487"/>
                  </a:cubicBezTo>
                  <a:moveTo>
                    <a:pt x="12700" y="467487"/>
                  </a:moveTo>
                  <a:lnTo>
                    <a:pt x="6350" y="467487"/>
                  </a:lnTo>
                  <a:lnTo>
                    <a:pt x="12700" y="467487"/>
                  </a:lnTo>
                  <a:cubicBezTo>
                    <a:pt x="12700" y="718693"/>
                    <a:pt x="216281" y="922401"/>
                    <a:pt x="467487" y="922401"/>
                  </a:cubicBezTo>
                  <a:cubicBezTo>
                    <a:pt x="718693" y="922401"/>
                    <a:pt x="922401" y="718693"/>
                    <a:pt x="922401" y="467487"/>
                  </a:cubicBezTo>
                  <a:cubicBezTo>
                    <a:pt x="922401" y="465836"/>
                    <a:pt x="923036" y="464185"/>
                    <a:pt x="924306" y="463042"/>
                  </a:cubicBezTo>
                  <a:lnTo>
                    <a:pt x="928751" y="467487"/>
                  </a:lnTo>
                  <a:lnTo>
                    <a:pt x="922401" y="467487"/>
                  </a:lnTo>
                  <a:cubicBezTo>
                    <a:pt x="922401" y="216281"/>
                    <a:pt x="718693" y="12700"/>
                    <a:pt x="467487" y="12700"/>
                  </a:cubicBezTo>
                  <a:cubicBezTo>
                    <a:pt x="466344" y="12700"/>
                    <a:pt x="465074" y="12319"/>
                    <a:pt x="464058" y="11684"/>
                  </a:cubicBezTo>
                  <a:lnTo>
                    <a:pt x="467487" y="6350"/>
                  </a:lnTo>
                  <a:lnTo>
                    <a:pt x="467487" y="12700"/>
                  </a:lnTo>
                  <a:cubicBezTo>
                    <a:pt x="216281" y="12700"/>
                    <a:pt x="12700" y="216281"/>
                    <a:pt x="12700" y="467487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2399405" y="6937924"/>
            <a:ext cx="345872" cy="345872"/>
          </a:xfrm>
          <a:custGeom>
            <a:avLst/>
            <a:gdLst/>
            <a:ahLst/>
            <a:cxnLst/>
            <a:rect r="r" b="b" t="t" l="l"/>
            <a:pathLst>
              <a:path h="345872" w="345872">
                <a:moveTo>
                  <a:pt x="0" y="0"/>
                </a:moveTo>
                <a:lnTo>
                  <a:pt x="345871" y="0"/>
                </a:lnTo>
                <a:lnTo>
                  <a:pt x="345871" y="345872"/>
                </a:lnTo>
                <a:lnTo>
                  <a:pt x="0" y="345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105741" y="6772427"/>
            <a:ext cx="3084166" cy="3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Future Enhancements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05741" y="7207148"/>
            <a:ext cx="13993416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More natural voices using deep learning and neural networks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2106368" y="8482603"/>
            <a:ext cx="240059" cy="1047007"/>
            <a:chOff x="0" y="0"/>
            <a:chExt cx="320078" cy="13960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" y="6350"/>
              <a:ext cx="307340" cy="1383284"/>
            </a:xfrm>
            <a:custGeom>
              <a:avLst/>
              <a:gdLst/>
              <a:ahLst/>
              <a:cxnLst/>
              <a:rect r="r" b="b" t="t" l="l"/>
              <a:pathLst>
                <a:path h="1383284" w="307340">
                  <a:moveTo>
                    <a:pt x="0" y="133223"/>
                  </a:moveTo>
                  <a:cubicBezTo>
                    <a:pt x="0" y="59690"/>
                    <a:pt x="57785" y="0"/>
                    <a:pt x="129159" y="0"/>
                  </a:cubicBezTo>
                  <a:lnTo>
                    <a:pt x="178308" y="0"/>
                  </a:lnTo>
                  <a:cubicBezTo>
                    <a:pt x="249555" y="0"/>
                    <a:pt x="307340" y="59690"/>
                    <a:pt x="307340" y="133223"/>
                  </a:cubicBezTo>
                  <a:lnTo>
                    <a:pt x="307340" y="1250061"/>
                  </a:lnTo>
                  <a:cubicBezTo>
                    <a:pt x="307340" y="1323594"/>
                    <a:pt x="249555" y="1383284"/>
                    <a:pt x="178181" y="1383284"/>
                  </a:cubicBezTo>
                  <a:lnTo>
                    <a:pt x="129159" y="1383284"/>
                  </a:lnTo>
                  <a:cubicBezTo>
                    <a:pt x="57785" y="1383284"/>
                    <a:pt x="0" y="1323594"/>
                    <a:pt x="0" y="1250061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0040" cy="1395984"/>
            </a:xfrm>
            <a:custGeom>
              <a:avLst/>
              <a:gdLst/>
              <a:ahLst/>
              <a:cxnLst/>
              <a:rect r="r" b="b" t="t" l="l"/>
              <a:pathLst>
                <a:path h="1395984" w="320040">
                  <a:moveTo>
                    <a:pt x="0" y="139573"/>
                  </a:moveTo>
                  <a:cubicBezTo>
                    <a:pt x="0" y="62738"/>
                    <a:pt x="60452" y="0"/>
                    <a:pt x="135509" y="0"/>
                  </a:cubicBez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lnTo>
                    <a:pt x="184658" y="6350"/>
                  </a:lnTo>
                  <a:lnTo>
                    <a:pt x="184658" y="0"/>
                  </a:lnTo>
                  <a:cubicBezTo>
                    <a:pt x="259588" y="0"/>
                    <a:pt x="320040" y="62738"/>
                    <a:pt x="320040" y="139573"/>
                  </a:cubicBezTo>
                  <a:lnTo>
                    <a:pt x="320040" y="1256411"/>
                  </a:lnTo>
                  <a:lnTo>
                    <a:pt x="313690" y="1256411"/>
                  </a:lnTo>
                  <a:lnTo>
                    <a:pt x="320040" y="1256411"/>
                  </a:lnTo>
                  <a:cubicBezTo>
                    <a:pt x="320040" y="1333373"/>
                    <a:pt x="259588" y="1395984"/>
                    <a:pt x="184531" y="1395984"/>
                  </a:cubicBezTo>
                  <a:lnTo>
                    <a:pt x="184531" y="1389634"/>
                  </a:lnTo>
                  <a:lnTo>
                    <a:pt x="184531" y="1395984"/>
                  </a:lnTo>
                  <a:lnTo>
                    <a:pt x="135509" y="1395984"/>
                  </a:lnTo>
                  <a:lnTo>
                    <a:pt x="135509" y="1389634"/>
                  </a:lnTo>
                  <a:lnTo>
                    <a:pt x="135509" y="1395984"/>
                  </a:lnTo>
                  <a:cubicBezTo>
                    <a:pt x="60452" y="1395984"/>
                    <a:pt x="0" y="1333373"/>
                    <a:pt x="0" y="1256411"/>
                  </a:cubicBezTo>
                  <a:lnTo>
                    <a:pt x="0" y="139573"/>
                  </a:lnTo>
                  <a:lnTo>
                    <a:pt x="6350" y="139573"/>
                  </a:lnTo>
                  <a:lnTo>
                    <a:pt x="0" y="139573"/>
                  </a:lnTo>
                  <a:moveTo>
                    <a:pt x="12700" y="139573"/>
                  </a:moveTo>
                  <a:lnTo>
                    <a:pt x="12700" y="1256411"/>
                  </a:lnTo>
                  <a:lnTo>
                    <a:pt x="6350" y="1256411"/>
                  </a:lnTo>
                  <a:lnTo>
                    <a:pt x="12700" y="1256411"/>
                  </a:lnTo>
                  <a:cubicBezTo>
                    <a:pt x="12700" y="1326642"/>
                    <a:pt x="67818" y="1383284"/>
                    <a:pt x="135509" y="1383284"/>
                  </a:cubicBezTo>
                  <a:lnTo>
                    <a:pt x="184658" y="1383284"/>
                  </a:lnTo>
                  <a:cubicBezTo>
                    <a:pt x="252222" y="1383284"/>
                    <a:pt x="307467" y="1326642"/>
                    <a:pt x="307467" y="1256411"/>
                  </a:cubicBezTo>
                  <a:lnTo>
                    <a:pt x="307467" y="139573"/>
                  </a:lnTo>
                  <a:lnTo>
                    <a:pt x="313817" y="139573"/>
                  </a:lnTo>
                  <a:lnTo>
                    <a:pt x="307467" y="139573"/>
                  </a:lnTo>
                  <a:cubicBezTo>
                    <a:pt x="307340" y="69342"/>
                    <a:pt x="252222" y="12700"/>
                    <a:pt x="184658" y="12700"/>
                  </a:cubicBezTo>
                  <a:lnTo>
                    <a:pt x="135509" y="12700"/>
                  </a:lnTo>
                  <a:lnTo>
                    <a:pt x="135509" y="6350"/>
                  </a:lnTo>
                  <a:lnTo>
                    <a:pt x="135509" y="12700"/>
                  </a:lnTo>
                  <a:cubicBezTo>
                    <a:pt x="67818" y="12700"/>
                    <a:pt x="12700" y="69342"/>
                    <a:pt x="12700" y="139573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875834" y="8331251"/>
            <a:ext cx="701278" cy="701278"/>
            <a:chOff x="0" y="0"/>
            <a:chExt cx="935038" cy="9350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6350" y="6350"/>
              <a:ext cx="922401" cy="922401"/>
            </a:xfrm>
            <a:custGeom>
              <a:avLst/>
              <a:gdLst/>
              <a:ahLst/>
              <a:cxnLst/>
              <a:rect r="r" b="b" t="t" l="l"/>
              <a:pathLst>
                <a:path h="922401" w="922401">
                  <a:moveTo>
                    <a:pt x="0" y="461137"/>
                  </a:moveTo>
                  <a:cubicBezTo>
                    <a:pt x="0" y="206502"/>
                    <a:pt x="206502" y="0"/>
                    <a:pt x="461137" y="0"/>
                  </a:cubicBezTo>
                  <a:cubicBezTo>
                    <a:pt x="715772" y="0"/>
                    <a:pt x="922401" y="206502"/>
                    <a:pt x="922401" y="461137"/>
                  </a:cubicBezTo>
                  <a:cubicBezTo>
                    <a:pt x="922401" y="715772"/>
                    <a:pt x="715899" y="922401"/>
                    <a:pt x="461137" y="922401"/>
                  </a:cubicBezTo>
                  <a:cubicBezTo>
                    <a:pt x="206375" y="922401"/>
                    <a:pt x="0" y="715899"/>
                    <a:pt x="0" y="46113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5101" cy="934974"/>
            </a:xfrm>
            <a:custGeom>
              <a:avLst/>
              <a:gdLst/>
              <a:ahLst/>
              <a:cxnLst/>
              <a:rect r="r" b="b" t="t" l="l"/>
              <a:pathLst>
                <a:path h="934974" w="935101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468630" y="0"/>
                    <a:pt x="469900" y="381"/>
                    <a:pt x="470916" y="1016"/>
                  </a:cubicBezTo>
                  <a:lnTo>
                    <a:pt x="467487" y="6350"/>
                  </a:lnTo>
                  <a:lnTo>
                    <a:pt x="467487" y="0"/>
                  </a:lnTo>
                  <a:lnTo>
                    <a:pt x="467487" y="6350"/>
                  </a:lnTo>
                  <a:lnTo>
                    <a:pt x="467487" y="0"/>
                  </a:lnTo>
                  <a:cubicBezTo>
                    <a:pt x="725678" y="0"/>
                    <a:pt x="935101" y="209296"/>
                    <a:pt x="935101" y="467487"/>
                  </a:cubicBezTo>
                  <a:cubicBezTo>
                    <a:pt x="935101" y="469138"/>
                    <a:pt x="934466" y="470789"/>
                    <a:pt x="933196" y="471932"/>
                  </a:cubicBezTo>
                  <a:lnTo>
                    <a:pt x="928751" y="467487"/>
                  </a:lnTo>
                  <a:lnTo>
                    <a:pt x="935101" y="467487"/>
                  </a:lnTo>
                  <a:cubicBezTo>
                    <a:pt x="935101" y="725678"/>
                    <a:pt x="725805" y="934974"/>
                    <a:pt x="467614" y="934974"/>
                  </a:cubicBezTo>
                  <a:lnTo>
                    <a:pt x="467614" y="928624"/>
                  </a:lnTo>
                  <a:lnTo>
                    <a:pt x="467614" y="934974"/>
                  </a:lnTo>
                  <a:cubicBezTo>
                    <a:pt x="209296" y="935101"/>
                    <a:pt x="0" y="725678"/>
                    <a:pt x="0" y="467487"/>
                  </a:cubicBezTo>
                  <a:moveTo>
                    <a:pt x="12700" y="467487"/>
                  </a:moveTo>
                  <a:lnTo>
                    <a:pt x="6350" y="467487"/>
                  </a:lnTo>
                  <a:lnTo>
                    <a:pt x="12700" y="467487"/>
                  </a:lnTo>
                  <a:cubicBezTo>
                    <a:pt x="12700" y="718693"/>
                    <a:pt x="216281" y="922401"/>
                    <a:pt x="467487" y="922401"/>
                  </a:cubicBezTo>
                  <a:cubicBezTo>
                    <a:pt x="718693" y="922401"/>
                    <a:pt x="922401" y="718693"/>
                    <a:pt x="922401" y="467487"/>
                  </a:cubicBezTo>
                  <a:cubicBezTo>
                    <a:pt x="922401" y="465836"/>
                    <a:pt x="923036" y="464185"/>
                    <a:pt x="924306" y="463042"/>
                  </a:cubicBezTo>
                  <a:lnTo>
                    <a:pt x="928751" y="467487"/>
                  </a:lnTo>
                  <a:lnTo>
                    <a:pt x="922401" y="467487"/>
                  </a:lnTo>
                  <a:cubicBezTo>
                    <a:pt x="922401" y="216281"/>
                    <a:pt x="718693" y="12700"/>
                    <a:pt x="467487" y="12700"/>
                  </a:cubicBezTo>
                  <a:cubicBezTo>
                    <a:pt x="466344" y="12700"/>
                    <a:pt x="465074" y="12319"/>
                    <a:pt x="464058" y="11684"/>
                  </a:cubicBezTo>
                  <a:lnTo>
                    <a:pt x="467487" y="6350"/>
                  </a:lnTo>
                  <a:lnTo>
                    <a:pt x="467487" y="12700"/>
                  </a:lnTo>
                  <a:cubicBezTo>
                    <a:pt x="216281" y="12700"/>
                    <a:pt x="12700" y="216281"/>
                    <a:pt x="12700" y="467487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Freeform 49" id="49" descr="preencoded.png"/>
          <p:cNvSpPr/>
          <p:nvPr/>
        </p:nvSpPr>
        <p:spPr>
          <a:xfrm flipH="false" flipV="false" rot="0">
            <a:off x="2053533" y="8508949"/>
            <a:ext cx="345872" cy="345872"/>
          </a:xfrm>
          <a:custGeom>
            <a:avLst/>
            <a:gdLst/>
            <a:ahLst/>
            <a:cxnLst/>
            <a:rect r="r" b="b" t="t" l="l"/>
            <a:pathLst>
              <a:path h="345872" w="345872">
                <a:moveTo>
                  <a:pt x="0" y="0"/>
                </a:moveTo>
                <a:lnTo>
                  <a:pt x="345872" y="0"/>
                </a:lnTo>
                <a:lnTo>
                  <a:pt x="345872" y="345872"/>
                </a:lnTo>
                <a:lnTo>
                  <a:pt x="0" y="345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759869" y="8343452"/>
            <a:ext cx="2882208" cy="3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52586B"/>
                </a:solidFill>
                <a:latin typeface="Arimo Bold"/>
                <a:ea typeface="Arimo Bold"/>
                <a:cs typeface="Arimo Bold"/>
                <a:sym typeface="Arimo Bold"/>
              </a:rPr>
              <a:t>Expansion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759869" y="8778183"/>
            <a:ext cx="14339297" cy="4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Support for multiple languages and voice customization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DAHFHLOsAvM</dc:identifier>
  <dcterms:modified xsi:type="dcterms:W3CDTF">2011-08-01T06:04:30Z</dcterms:modified>
  <cp:revision>1</cp:revision>
  <dc:title>Text-to-Speech-and-Voice-Generation-using-Machine-Learning.pptx</dc:title>
</cp:coreProperties>
</file>